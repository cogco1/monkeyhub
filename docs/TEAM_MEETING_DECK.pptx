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bf65cb187045f0" /><Relationship Type="http://schemas.openxmlformats.org/officeDocument/2006/relationships/extended-properties" Target="/docProps/app.xml" Id="Rd6f7d87279bb4932" /><Relationship Type="http://schemas.openxmlformats.org/officeDocument/2006/relationships/officeDocument" Target="/ppt/presentation.xml" Id="R3d0d68b5e83747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e4da75f2834eaa"/>
  </p:sldMasterIdLst>
  <p:notesMasterIdLst>
    <p:notesMasterId xmlns:r="http://schemas.openxmlformats.org/officeDocument/2006/relationships" r:id="R547a9c2cb6324424"/>
  </p:notesMasterIdLst>
  <p:sldIdLst>
    <p:sldId xmlns:r="http://schemas.openxmlformats.org/officeDocument/2006/relationships" id="256" r:id="R4b01f73389c94e02"/>
    <p:sldId xmlns:r="http://schemas.openxmlformats.org/officeDocument/2006/relationships" id="257" r:id="R53750ff584394ec2"/>
    <p:sldId xmlns:r="http://schemas.openxmlformats.org/officeDocument/2006/relationships" id="258" r:id="Rb36081c35de24645"/>
    <p:sldId xmlns:r="http://schemas.openxmlformats.org/officeDocument/2006/relationships" id="259" r:id="Rcdcf3c1ce0d642d7"/>
    <p:sldId xmlns:r="http://schemas.openxmlformats.org/officeDocument/2006/relationships" id="260" r:id="R0b85fcb3fa334ab0"/>
    <p:sldId xmlns:r="http://schemas.openxmlformats.org/officeDocument/2006/relationships" id="261" r:id="R09b26ff003dc4bbe"/>
    <p:sldId xmlns:r="http://schemas.openxmlformats.org/officeDocument/2006/relationships" id="262" r:id="Rc9cb0478818a403a"/>
    <p:sldId xmlns:r="http://schemas.openxmlformats.org/officeDocument/2006/relationships" id="263" r:id="Rfc7f34ac9d7349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483e8547804196" /><Relationship Type="http://schemas.openxmlformats.org/officeDocument/2006/relationships/slideMaster" Target="/ppt/slideMasters/slideMaster1.xml" Id="Rd0e4da75f2834eaa" /><Relationship Type="http://schemas.openxmlformats.org/officeDocument/2006/relationships/notesMaster" Target="/ppt/notesMasters/notesMaster1.xml" Id="R547a9c2cb6324424" /><Relationship Type="http://schemas.openxmlformats.org/officeDocument/2006/relationships/presProps" Target="/ppt/presProps.xml" Id="R26cdfe14ab8b4d19" /><Relationship Type="http://schemas.openxmlformats.org/officeDocument/2006/relationships/tableStyles" Target="/ppt/tableStyles.xml" Id="Rccee971d78f24923" /><Relationship Type="http://schemas.openxmlformats.org/officeDocument/2006/relationships/slide" Target="/ppt/slides/slide1.xml" Id="R4b01f73389c94e02" /><Relationship Type="http://schemas.openxmlformats.org/officeDocument/2006/relationships/slide" Target="/ppt/slides/slide2.xml" Id="R53750ff584394ec2" /><Relationship Type="http://schemas.openxmlformats.org/officeDocument/2006/relationships/slide" Target="/ppt/slides/slide3.xml" Id="Rb36081c35de24645" /><Relationship Type="http://schemas.openxmlformats.org/officeDocument/2006/relationships/slide" Target="/ppt/slides/slide4.xml" Id="Rcdcf3c1ce0d642d7" /><Relationship Type="http://schemas.openxmlformats.org/officeDocument/2006/relationships/slide" Target="/ppt/slides/slide5.xml" Id="R0b85fcb3fa334ab0" /><Relationship Type="http://schemas.openxmlformats.org/officeDocument/2006/relationships/slide" Target="/ppt/slides/slide6.xml" Id="R09b26ff003dc4bbe" /><Relationship Type="http://schemas.openxmlformats.org/officeDocument/2006/relationships/slide" Target="/ppt/slides/slide7.xml" Id="Rc9cb0478818a403a" /><Relationship Type="http://schemas.openxmlformats.org/officeDocument/2006/relationships/slide" Target="/ppt/slides/slide8.xml" Id="Rfc7f34ac9d7349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e073a7f51e49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d8b12e9fdc4b27" /><Relationship Type="http://schemas.openxmlformats.org/officeDocument/2006/relationships/notesMaster" Target="/ppt/notesMasters/notesMaster1.xml" Id="Rad1f4c4f0d494b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500f045f114001" /><Relationship Type="http://schemas.openxmlformats.org/officeDocument/2006/relationships/notesMaster" Target="/ppt/notesMasters/notesMaster1.xml" Id="R20e2816c9f5b44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33c20a02d3408f" /><Relationship Type="http://schemas.openxmlformats.org/officeDocument/2006/relationships/notesMaster" Target="/ppt/notesMasters/notesMaster1.xml" Id="Re60b845db67141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003d61e05b4cad" /><Relationship Type="http://schemas.openxmlformats.org/officeDocument/2006/relationships/notesMaster" Target="/ppt/notesMasters/notesMaster1.xml" Id="Rb25bfdb390a14e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ddce1d4f754c24" /><Relationship Type="http://schemas.openxmlformats.org/officeDocument/2006/relationships/notesMaster" Target="/ppt/notesMasters/notesMaster1.xml" Id="R083722d0b9814a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003425ee2943c1" /><Relationship Type="http://schemas.openxmlformats.org/officeDocument/2006/relationships/notesMaster" Target="/ppt/notesMasters/notesMaster1.xml" Id="R12b4c64a65fc4f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4704b7f740456a" /><Relationship Type="http://schemas.openxmlformats.org/officeDocument/2006/relationships/notesMaster" Target="/ppt/notesMasters/notesMaster1.xml" Id="R1601add28a784b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cd7d0ac7cf4539" /><Relationship Type="http://schemas.openxmlformats.org/officeDocument/2006/relationships/notesMaster" Target="/ppt/notesMasters/notesMaster1.xml" Id="R9aa7c708e95647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开场先请各位介绍背景和感兴趣的方向，约4分钟。随后用4分钟说明当前进展。MonkeyHub 已连接主要工作界面，本地建模可以先连续编辑草稿，再手动同步为候选。白板上的批注和选中文字可以带回设计反馈。CAD 接口和 Hub 执行管理已有初步实现，Windows 桌面入口 Phase A 已合入 main。</a:t>
            </a:r>
          </a:p>
          <a:p xmlns:a="http://schemas.openxmlformats.org/drawingml/2006/main">
            <a:r>
              <a:t>这些是源码进展，完整独立打包和干净机器上的安装检查仍有后续工作。</a:t>
            </a:r>
          </a:p>
          <a:p xmlns:a="http://schemas.openxmlformats.org/drawingml/2006/main">
            <a:r>
              <a:t>来源：https://github.com/cogco1/ARCHFLOW_V4/pull/28</a:t>
            </a:r>
          </a:p>
          <a:p xmlns:a="http://schemas.openxmlformats.org/drawingml/2006/main">
            <a:r>
              <a:t>https://github.com/cogco1/ARCHFLOW_V4/pull/30</a:t>
            </a:r>
          </a:p>
          <a:p xmlns:a="http://schemas.openxmlformats.org/drawingml/2006/main">
            <a:r>
              <a:t>https://github.com/cogco1/ARCHFLOW_V4/pull/33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这部分约3分钟，说明项目记录与具体工具的关系。人、通用 Agent 和生成器都可以参与设计修改。ArchFlow 保存对象身份、依赖、来源和版本，运行时调度操作与工作进程，并处理任务恢复和模型投影。具体工具承担计算和呈现。换用工具后，设计仍在同一项目记录上继续。</a:t>
            </a:r>
          </a:p>
          <a:p xmlns:a="http://schemas.openxmlformats.org/drawingml/2006/main">
            <a:r>
              <a:t>图示说明职责分配。自然语言意图仍需通过已有接口转为可执行动作，图中的连接不表示任意请求都已实现。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接下来四组各讨论约3分钟，负责人在会上认领。Paper 整理研究问题与比较方法。Blender 完成场景生成、渲染和修改后的更新。Interaction 在已有指针操作上完善连续编辑与吸附。Backend 先记录完整设计任务，再研究减少模型调用的方法。各组说明近期成果和负责范围。涉及共用接口时，将接口修改单独提交，供相关组继续工作。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研究问题来自会议材料：通用 Agent 能否将设计意图编译为类型明确的设计事务，由能够处理依赖关系的运行时执行，从而减少逐步操作 CAD 的模型轮次。</a:t>
            </a:r>
          </a:p>
          <a:p xmlns:a="http://schemas.openxmlformats.org/drawingml/2006/main">
            <a:r>
              <a:t>比较三种方式：A 由 Agent 直接操作 CAD；B 使用当前 ArchFlow 的多轮 Agent 与工具调用；C 使用拟研究的上下文编译和事务执行方案。C 仍是实验方案。</a:t>
            </a:r>
          </a:p>
          <a:p xmlns:a="http://schemas.openxmlformats.org/drawingml/2006/main">
            <a:r>
              <a:t>固定真实任务、起始版本及 provider/model 配置，重复运行。记录模型轮次、读取与工具调用次数、tokens、首个可见结果和验证完成时间，并观察歧义处理失败及连续修改中的漂移。实验方案在运行前确定，数据从 Monitor 读取。</a:t>
            </a:r>
          </a:p>
          <a:p xmlns:a="http://schemas.openxmlformats.org/drawingml/2006/main">
            <a:r>
              <a:t>两周内形成研究架构图、比较实验方案和首张结果表。根据结果讨论能够接受后续检验的研究判断，具体判断由团队提出。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本组完成从项目到渲染、再到设计修改后更新的完整示例。复用 #13 的 CAD 接口，将项目生成原生 .blend 场景，按对象含义组织 collection 和材料，设置相机与基础照明，输出首张 PNG。随后修改 ArchFlow 项目，重新生成或更新 Blender 场景，并渲染第二张图。</a:t>
            </a:r>
          </a:p>
          <a:p xmlns:a="http://schemas.openxmlformats.org/drawingml/2006/main">
            <a:r>
              <a:t>两次场景应保留与项目对象的对应关系，项目状态仍由 ArchFlow 管理。近期先完成一套可靠的渲染流程。Geometry Nodes、动画等扩展另行安排。</a:t>
            </a:r>
          </a:p>
          <a:p xmlns:a="http://schemas.openxmlformats.org/drawingml/2006/main">
            <a:r>
              <a:t>来源：https://github.com/cogco1/ARCHFLOW_V4/issues/13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移动、复制、旋转、缩放和沿坐标轴镜像的指针操作已通过 PR #36–38 合入 main。本地预览、Push/Pull、曲线及撤销已有实现。接下来通过连续建模检查工具之间的衔接，重点改善吸附保持和当前操作需要的推断。</a:t>
            </a:r>
          </a:p>
          <a:p xmlns:a="http://schemas.openxmlformats.org/drawingml/2006/main">
            <a:r>
              <a:t>用户选中对象后进行指针操作，可输入数值覆盖，点击或按 Enter 确认本次草稿修改。预览在本地计算，不发送模型请求。用户手动 Sync 后，系统执行整批草稿并生成验证候选。</a:t>
            </a:r>
          </a:p>
          <a:p xmlns:a="http://schemas.openxmlformats.org/drawingml/2006/main">
            <a:r>
              <a:t>分别观察指针到预览、手势结束到草稿确认、Sync 到候选的耗时。只有实际延迟表明需要时，再做大场景索引优化。</a:t>
            </a:r>
          </a:p>
          <a:p xmlns:a="http://schemas.openxmlformats.org/drawingml/2006/main">
            <a:r>
              <a:t>来源：https://github.com/cogco1/ARCHFLOW_V4/issues/14</a:t>
            </a:r>
          </a:p>
          <a:p xmlns:a="http://schemas.openxmlformats.org/drawingml/2006/main">
            <a:r>
              <a:t>https://github.com/cogco1/ARCHFLOW_V4/pull/36</a:t>
            </a:r>
          </a:p>
          <a:p xmlns:a="http://schemas.openxmlformats.org/drawingml/2006/main">
            <a:r>
              <a:t>https://github.com/cogco1/ARCHFLOW_V4/pull/37</a:t>
            </a:r>
          </a:p>
          <a:p xmlns:a="http://schemas.openxmlformats.org/drawingml/2006/main">
            <a:r>
              <a:t>https://github.com/cogco1/ARCHFLOW_V4/pull/38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先完成 #32 的任务记录和 Monitor 展示。使用同一 turn_id 关联 Hub、provider、Studio、candidate、CAD、验证与预览。Monitor 用水平时间图、按活动含义分组的记录和关键路径，展示时间花在哪里，帮助辨认重复读取、重试和可以省去的模型唤醒。</a:t>
            </a:r>
          </a:p>
          <a:p xmlns:a="http://schemas.openxmlformats.org/drawingml/2006/main">
            <a:r>
              <a:t>用量和时间从实际执行自动采集。费用依据确切的 provider、model 和计费配置计算。订阅 CLI 的 API 等价估算应注明估算，不能表示为账户实际扣款；价格依据不足时不显示确定费用。</a:t>
            </a:r>
          </a:p>
          <a:p xmlns:a="http://schemas.openxmlformats.org/drawingml/2006/main">
            <a:r>
              <a:t>随后用同一任务研究 ContextPack 与 DesignTransaction：汇集判断所需信息，将修改组织为事务，由运行时执行并读回。出现需要重新判断的歧义时，再调用 Agent。保留现有 proposal、candidate 和 P036 的项目保存方式，任务记录不成为另一份项目状态。</a:t>
            </a:r>
          </a:p>
          <a:p xmlns:a="http://schemas.openxmlformats.org/drawingml/2006/main">
            <a:r>
              <a:t>来源：https://github.com/cogco1/ARCHFLOW_V4/issues/32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最后约6分钟确定分工。每组从 main 建立独立 branch 和 worktree，用现有 lane 登记任务，通过 PR 评审后合入。开始前运行 python tools/devctl.py work，查看正在进行的工作及目标模块的职责和接口，避免覆盖其他组未合入的修改。</a:t>
            </a:r>
          </a:p>
          <a:p xmlns:a="http://schemas.openxmlformats.org/drawingml/2006/main">
            <a:r>
              <a:t>负责人说明对应 issue/lane、起始 main 版本、首个 PR 或研究材料、预计涉及的文件与模块、检查方法，以及需要其他组先完成的工作。</a:t>
            </a:r>
          </a:p>
          <a:p xmlns:a="http://schemas.openxmlformats.org/drawingml/2006/main">
            <a:r>
              <a:t>本次只安排 Paper、Blender、Interaction、Backend 四组。Board 协作、桌面完整打包、任务恢复和 Diagram/Fab 扩展留作后续工作。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会议材料：https://github.com/cogco1/ARCHFLOW_V4/blob/8256eb0825d518e9bcd0b328c180146618ddcd34/docs/TEAM_MEETING_AGENDA.md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6a795c8d8147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b09546c01143ab" /><Relationship Type="http://schemas.openxmlformats.org/officeDocument/2006/relationships/slideLayout" Target="/ppt/slideLayouts/slideLayout1.xml" Id="R862d9ab46b524d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2d9ab46b524d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34f751cb1421f" /><Relationship Type="http://schemas.openxmlformats.org/officeDocument/2006/relationships/notesSlide" Target="/ppt/notesSlides/notesSlide1.xml" Id="R9ce0fb217c8842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d992cf8624027" /><Relationship Type="http://schemas.openxmlformats.org/officeDocument/2006/relationships/notesSlide" Target="/ppt/notesSlides/notesSlide2.xml" Id="R5fc876c3e23843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17e8136624bdf" /><Relationship Type="http://schemas.openxmlformats.org/officeDocument/2006/relationships/notesSlide" Target="/ppt/notesSlides/notesSlide3.xml" Id="R67258a1fd0a74c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bb77ce7e54c08" /><Relationship Type="http://schemas.openxmlformats.org/officeDocument/2006/relationships/notesSlide" Target="/ppt/notesSlides/notesSlide4.xml" Id="R56455a4b12b54f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496302ef5412c" /><Relationship Type="http://schemas.openxmlformats.org/officeDocument/2006/relationships/notesSlide" Target="/ppt/notesSlides/notesSlide5.xml" Id="R8a2a0269ae4545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be38d3f684c10" /><Relationship Type="http://schemas.openxmlformats.org/officeDocument/2006/relationships/notesSlide" Target="/ppt/notesSlides/notesSlide6.xml" Id="R87c7b4b032d4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3e6d6ded2456b" /><Relationship Type="http://schemas.openxmlformats.org/officeDocument/2006/relationships/notesSlide" Target="/ppt/notesSlides/notesSlide7.xml" Id="R981711db387640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ddec49845b49ce" /><Relationship Type="http://schemas.openxmlformats.org/officeDocument/2006/relationships/notesSlide" Target="/ppt/notesSlides/notesSlide8.xml" Id="Rc4972819f13f4b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1">
            <a:extLst xmlns:a="http://schemas.openxmlformats.org/drawingml/2006/main">
              <a:ext uri="{FF2B5EF4-FFF2-40B4-BE49-F238E27FC236}">
                <a16:creationId xmlns:a16="http://schemas.microsoft.com/office/drawing/2014/main" id="{327108AF-79A0-4F27-8AA4-216A22AE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ArchFlow / Monkey 当前进展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84CF399D-8CAB-4450-A08C-AB500B16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两周工作安排：Paper / Blender / Interaction / Backend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F4EBCF-592F-4152-8AA1-C6ADEEBB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61429D1-9D25-47B5-9351-A1C48A62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0223D97-001A-4E83-9633-65E24DD3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CD69BE80-3824-455D-B6EB-0A574DBD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本地建模与反馈</a:t>
            </a:r>
          </a:p>
          <a:p xmlns:a="http://schemas.openxmlformats.org/drawingml/2006/main">
            <a:pPr algn="l">
              <a:buNone/>
              <a:defRPr sz="38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已具备基础流程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B84EB2-56B4-485F-AC8D-44A8AAB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289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7EA21E19-6903-4197-A918-AC21F46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62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直接建模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327442C0-372B-485A-BBE2-0955586E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9552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本地编辑草稿，手动同步候选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6C5A5-B38E-42B3-B106-14E4AFC4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19475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1" name="text-8">
            <a:extLst xmlns:a="http://schemas.openxmlformats.org/drawingml/2006/main">
              <a:ext uri="{FF2B5EF4-FFF2-40B4-BE49-F238E27FC236}">
                <a16:creationId xmlns:a16="http://schemas.microsoft.com/office/drawing/2014/main" id="{CE380EB1-A4BE-4271-B526-08C06603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5272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设计反馈</a:t>
            </a:r>
          </a:p>
        </p:txBody>
      </p:sp>
      <p:sp>
        <p:nvSpPr>
          <p:cNvPr id="12" name="text-9">
            <a:extLst xmlns:a="http://schemas.openxmlformats.org/drawingml/2006/main">
              <a:ext uri="{FF2B5EF4-FFF2-40B4-BE49-F238E27FC236}">
                <a16:creationId xmlns:a16="http://schemas.microsoft.com/office/drawing/2014/main" id="{D3C787A8-E7BC-4EFE-A3EB-992E3EFE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861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通过白板批注和选中文字提出修改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27387-6390-4623-92DC-DF2EF9E7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1005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4" name="text-10">
            <a:extLst xmlns:a="http://schemas.openxmlformats.org/drawingml/2006/main">
              <a:ext uri="{FF2B5EF4-FFF2-40B4-BE49-F238E27FC236}">
                <a16:creationId xmlns:a16="http://schemas.microsoft.com/office/drawing/2014/main" id="{7E6D0FBD-AAEC-45EE-8BF5-A28D176B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433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15" name="text-11">
            <a:extLst xmlns:a="http://schemas.openxmlformats.org/drawingml/2006/main">
              <a:ext uri="{FF2B5EF4-FFF2-40B4-BE49-F238E27FC236}">
                <a16:creationId xmlns:a16="http://schemas.microsoft.com/office/drawing/2014/main" id="{290FB3A3-7070-4EC9-BA63-D30F69C8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7667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统一 CAD 接口，Hub 管理执行过程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BE94A0-2EF6-4957-89FE-0319B855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00625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7" name="text-12">
            <a:extLst xmlns:a="http://schemas.openxmlformats.org/drawingml/2006/main">
              <a:ext uri="{FF2B5EF4-FFF2-40B4-BE49-F238E27FC236}">
                <a16:creationId xmlns:a16="http://schemas.microsoft.com/office/drawing/2014/main" id="{D07B6813-D88C-48EA-A55D-F54CCCA8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33875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桌面入口</a:t>
            </a:r>
          </a:p>
        </p:txBody>
      </p:sp>
      <p:sp>
        <p:nvSpPr>
          <p:cNvPr id="18" name="text-13">
            <a:extLst xmlns:a="http://schemas.openxmlformats.org/drawingml/2006/main">
              <a:ext uri="{FF2B5EF4-FFF2-40B4-BE49-F238E27FC236}">
                <a16:creationId xmlns:a16="http://schemas.microsoft.com/office/drawing/2014/main" id="{0013A410-8762-4B79-B40B-9C5CA7AC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Windows 桌面入口已合入 main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3C697F-5EF0-4120-9F46-A2655EB9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0" name="text-14">
            <a:extLst xmlns:a="http://schemas.openxmlformats.org/drawingml/2006/main">
              <a:ext uri="{FF2B5EF4-FFF2-40B4-BE49-F238E27FC236}">
                <a16:creationId xmlns:a16="http://schemas.microsoft.com/office/drawing/2014/main" id="{25B94F90-489A-43C1-BA87-AC84D4EA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本次会议讨论四组工作的分工，以及两周内能够完成的内容</a:t>
            </a:r>
          </a:p>
        </p:txBody>
      </p:sp>
    </p:spTree>
    <p:extLst>
      <p:ext uri="{BB962C8B-B14F-4D97-AF65-F5344CB8AC3E}">
        <p14:creationId xmlns:p14="http://schemas.microsoft.com/office/powerpoint/2010/main" val="19085827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">
            <a:extLst xmlns:a="http://schemas.openxmlformats.org/drawingml/2006/main">
              <a:ext uri="{FF2B5EF4-FFF2-40B4-BE49-F238E27FC236}">
                <a16:creationId xmlns:a16="http://schemas.microsoft.com/office/drawing/2014/main" id="{BF5B22B4-76BE-4FFD-B4F2-446A96BE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项目状态与工具的关系</a:t>
            </a:r>
          </a:p>
        </p:txBody>
      </p:sp>
      <p:sp>
        <p:nvSpPr>
          <p:cNvPr id="2" name="text-16">
            <a:extLst xmlns:a="http://schemas.openxmlformats.org/drawingml/2006/main">
              <a:ext uri="{FF2B5EF4-FFF2-40B4-BE49-F238E27FC236}">
                <a16:creationId xmlns:a16="http://schemas.microsoft.com/office/drawing/2014/main" id="{644E5EF0-D714-4C6C-A621-D484CFAC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保存项目及其修改关系，运行时调用工具并返回结果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04224E-7714-4EA4-BAEF-DD201CAD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17">
            <a:extLst xmlns:a="http://schemas.openxmlformats.org/drawingml/2006/main">
              <a:ext uri="{FF2B5EF4-FFF2-40B4-BE49-F238E27FC236}">
                <a16:creationId xmlns:a16="http://schemas.microsoft.com/office/drawing/2014/main" id="{D10216C3-E67E-42B3-BC33-F22C4EE8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18">
            <a:extLst xmlns:a="http://schemas.openxmlformats.org/drawingml/2006/main">
              <a:ext uri="{FF2B5EF4-FFF2-40B4-BE49-F238E27FC236}">
                <a16:creationId xmlns:a16="http://schemas.microsoft.com/office/drawing/2014/main" id="{07BC1A00-4A4D-40E0-9E6E-AC39C43A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4C3C9-5F1B-47C3-AC21-53851F34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3000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7" name="text-19">
            <a:extLst xmlns:a="http://schemas.openxmlformats.org/drawingml/2006/main">
              <a:ext uri="{FF2B5EF4-FFF2-40B4-BE49-F238E27FC236}">
                <a16:creationId xmlns:a16="http://schemas.microsoft.com/office/drawing/2014/main" id="{0FF188D0-6D88-4FFE-8DC7-2564C630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95525"/>
            <a:ext cx="2695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人 / Agent / 生成器</a:t>
            </a:r>
          </a:p>
        </p:txBody>
      </p:sp>
      <p:sp>
        <p:nvSpPr>
          <p:cNvPr id="8" name="text-20">
            <a:extLst xmlns:a="http://schemas.openxmlformats.org/drawingml/2006/main">
              <a:ext uri="{FF2B5EF4-FFF2-40B4-BE49-F238E27FC236}">
                <a16:creationId xmlns:a16="http://schemas.microsoft.com/office/drawing/2014/main" id="{4AFBF534-4006-4AF0-9E63-515395BD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27717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提出设计意图或修改动作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14B20-243D-4FE1-BB95-BCE4AC85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181225"/>
            <a:ext cx="3295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7D1D32D8-7471-4788-996B-7003A71E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295525"/>
            <a:ext cx="2990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ArchFlow 项目状态</a:t>
            </a:r>
          </a:p>
        </p:txBody>
      </p:sp>
      <p:sp>
        <p:nvSpPr>
          <p:cNvPr id="11" name="text-22">
            <a:extLst xmlns:a="http://schemas.openxmlformats.org/drawingml/2006/main">
              <a:ext uri="{FF2B5EF4-FFF2-40B4-BE49-F238E27FC236}">
                <a16:creationId xmlns:a16="http://schemas.microsoft.com/office/drawing/2014/main" id="{AA646FCA-9921-4848-BB7B-BC7C8D7A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647950"/>
            <a:ext cx="3067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对象身份、依赖、来源与版本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F8EA61-DE89-491E-9334-5C3EF360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181225"/>
            <a:ext cx="37814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B3ABBCE6-3FA5-4B5B-9C96-F472DE9E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95525"/>
            <a:ext cx="3476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Runtime</a:t>
            </a:r>
          </a:p>
        </p:txBody>
      </p:sp>
      <p:sp>
        <p:nvSpPr>
          <p:cNvPr id="14" name="text-24">
            <a:extLst xmlns:a="http://schemas.openxmlformats.org/drawingml/2006/main">
              <a:ext uri="{FF2B5EF4-FFF2-40B4-BE49-F238E27FC236}">
                <a16:creationId xmlns:a16="http://schemas.microsoft.com/office/drawing/2014/main" id="{1A36D40E-CC68-4F2E-8D58-05D8397E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47950"/>
            <a:ext cx="35528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调度操作、恢复任务、更新模型</a:t>
            </a:r>
          </a:p>
        </p:txBody>
      </p:sp>
      <p:cxnSp>
        <p:nvCxnSpPr>
          <p:cNvPr id="5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590925" y="27146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362825" y="27146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CE9E82-6D8A-48CE-AF1E-1A79BB527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171950"/>
            <a:ext cx="755332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8" name="text-25">
            <a:extLst xmlns:a="http://schemas.openxmlformats.org/drawingml/2006/main">
              <a:ext uri="{FF2B5EF4-FFF2-40B4-BE49-F238E27FC236}">
                <a16:creationId xmlns:a16="http://schemas.microsoft.com/office/drawing/2014/main" id="{7555A41B-08E7-4FF1-BBF0-1F383AB1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286250"/>
            <a:ext cx="72485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执行与呈现</a:t>
            </a:r>
          </a:p>
        </p:txBody>
      </p:sp>
      <p:sp>
        <p:nvSpPr>
          <p:cNvPr id="19" name="text-26">
            <a:extLst xmlns:a="http://schemas.openxmlformats.org/drawingml/2006/main">
              <a:ext uri="{FF2B5EF4-FFF2-40B4-BE49-F238E27FC236}">
                <a16:creationId xmlns:a16="http://schemas.microsoft.com/office/drawing/2014/main" id="{DB74952B-71A5-47E7-83CE-780BF06F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4638675"/>
            <a:ext cx="73247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OCCT / Rhino / Blender / Diagram / Fab / Viewer</a:t>
            </a:r>
          </a:p>
        </p:txBody>
      </p:sp>
      <p:cxnSp>
        <p:nvCxnSpPr>
          <p:cNvPr id="64" name=""/>
          <p:cNvCxnSpPr>
            <a:stCxn xmlns:a="http://schemas.openxmlformats.org/drawingml/2006/main" id="12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 flipH="1">
            <a:off x="7843838" y="3248025"/>
            <a:ext cx="1885950" cy="9239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1" name="text-27">
            <a:extLst xmlns:a="http://schemas.openxmlformats.org/drawingml/2006/main">
              <a:ext uri="{FF2B5EF4-FFF2-40B4-BE49-F238E27FC236}">
                <a16:creationId xmlns:a16="http://schemas.microsoft.com/office/drawing/2014/main" id="{9B748876-4B06-44FD-8381-3128EF91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5242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修改以明确的动作传递</a:t>
            </a:r>
          </a:p>
        </p:txBody>
      </p:sp>
      <p:sp>
        <p:nvSpPr>
          <p:cNvPr id="22" name="text-28">
            <a:extLst xmlns:a="http://schemas.openxmlformats.org/drawingml/2006/main">
              <a:ext uri="{FF2B5EF4-FFF2-40B4-BE49-F238E27FC236}">
                <a16:creationId xmlns:a16="http://schemas.microsoft.com/office/drawing/2014/main" id="{8326EEAA-030B-4902-AA69-2D55BBA0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24325"/>
            <a:ext cx="30289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项目记录修改过程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候选可继续编辑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86BDF6-06DA-4641-9085-6D589ACF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4" name="text-29">
            <a:extLst xmlns:a="http://schemas.openxmlformats.org/drawingml/2006/main">
              <a:ext uri="{FF2B5EF4-FFF2-40B4-BE49-F238E27FC236}">
                <a16:creationId xmlns:a16="http://schemas.microsoft.com/office/drawing/2014/main" id="{DE9D791F-B8F0-452D-89AD-B890D722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建模、图纸与白板围绕同一项目展开，各工具负责相应的计算和呈现</a:t>
            </a:r>
          </a:p>
        </p:txBody>
      </p:sp>
    </p:spTree>
    <p:extLst>
      <p:ext uri="{BB962C8B-B14F-4D97-AF65-F5344CB8AC3E}">
        <p14:creationId xmlns:p14="http://schemas.microsoft.com/office/powerpoint/2010/main" val="17086085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0">
            <a:extLst xmlns:a="http://schemas.openxmlformats.org/drawingml/2006/main">
              <a:ext uri="{FF2B5EF4-FFF2-40B4-BE49-F238E27FC236}">
                <a16:creationId xmlns:a16="http://schemas.microsoft.com/office/drawing/2014/main" id="{F25ED85D-DB99-42EC-B971-C62F5389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两周工作安排</a:t>
            </a:r>
          </a:p>
        </p:txBody>
      </p:sp>
      <p:sp>
        <p:nvSpPr>
          <p:cNvPr id="2" name="text-31">
            <a:extLst xmlns:a="http://schemas.openxmlformats.org/drawingml/2006/main">
              <a:ext uri="{FF2B5EF4-FFF2-40B4-BE49-F238E27FC236}">
                <a16:creationId xmlns:a16="http://schemas.microsoft.com/office/drawing/2014/main" id="{7A325B21-BF9C-4CE0-90D9-ECC83DA6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四组分别推进研究比较、场景渲染、直接操作和执行效率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D71B44-9EF1-4701-9F05-C37F620C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32">
            <a:extLst xmlns:a="http://schemas.openxmlformats.org/drawingml/2006/main">
              <a:ext uri="{FF2B5EF4-FFF2-40B4-BE49-F238E27FC236}">
                <a16:creationId xmlns:a16="http://schemas.microsoft.com/office/drawing/2014/main" id="{8B61A167-D256-418F-A951-41804C1C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33">
            <a:extLst xmlns:a="http://schemas.openxmlformats.org/drawingml/2006/main">
              <a:ext uri="{FF2B5EF4-FFF2-40B4-BE49-F238E27FC236}">
                <a16:creationId xmlns:a16="http://schemas.microsoft.com/office/drawing/2014/main" id="{232F0F7C-BBC0-449D-8350-CBD55884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952625"/>
          <a:ext xmlns:a="http://schemas.openxmlformats.org/drawingml/2006/main" cx="11049000" cy="3429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809750"/>
                <a:gridCol w="2714625"/>
                <a:gridCol w="3905250"/>
                <a:gridCol w="2619375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方向</a:t>
                      </a:r>
                    </a:p>
                  </a:txBody>
                  <a:tcPr marL="91440" marR="91440" marT="45720" marB="45720">
                    <a:solidFill>
                      <a:srgbClr val="20232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近期工作</a:t>
                      </a:r>
                    </a:p>
                  </a:txBody>
                  <a:tcPr marL="91440" marR="91440" marT="45720" marB="45720">
                    <a:solidFill>
                      <a:srgbClr val="20232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两周成果</a:t>
                      </a:r>
                    </a:p>
                  </a:txBody>
                  <a:tcPr marL="91440" marR="91440" marT="45720" marB="45720">
                    <a:solidFill>
                      <a:srgbClr val="202321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负责范围</a:t>
                      </a:r>
                    </a:p>
                  </a:txBody>
                  <a:tcPr marL="91440" marR="91440" marT="45720" marB="45720">
                    <a:solidFill>
                      <a:srgbClr val="202321"/>
                    </a:solidFill>
                  </a:tcPr>
                </a:tc>
              </a:tr>
              <a:tr h="7239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Paper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术语与实验方案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架构图、比较结果及研究判断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实验设计与分析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</a:tr>
              <a:tr h="7239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Blender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 .blend 场景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修改前后的场景与渲染图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场景生成与更新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</a:tr>
              <a:tr h="7239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Interaction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指针操作与吸附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连续编辑简单体量模型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本地编辑与草稿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</a:tr>
              <a:tr h="7239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Backend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任务记录与 Monitor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各环节耗时与调用次数比较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02321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任务上下文与执行</a:t>
                      </a:r>
                    </a:p>
                  </a:txBody>
                  <a:tcPr marL="91440" marR="91440" marT="45720" marB="45720">
                    <a:solidFill>
                      <a:srgbClr val="F4F3E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407E0-4432-415F-BF92-6D36A08C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8" name="text-34">
            <a:extLst xmlns:a="http://schemas.openxmlformats.org/drawingml/2006/main">
              <a:ext uri="{FF2B5EF4-FFF2-40B4-BE49-F238E27FC236}">
                <a16:creationId xmlns:a16="http://schemas.microsoft.com/office/drawing/2014/main" id="{FCF455AF-B483-4E52-8BA0-EB79312C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涉及多组共用的接口时，先完成接口修改，再开展各组的实现</a:t>
            </a:r>
          </a:p>
        </p:txBody>
      </p:sp>
    </p:spTree>
    <p:extLst>
      <p:ext uri="{BB962C8B-B14F-4D97-AF65-F5344CB8AC3E}">
        <p14:creationId xmlns:p14="http://schemas.microsoft.com/office/powerpoint/2010/main" val="11114938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35">
            <a:extLst xmlns:a="http://schemas.openxmlformats.org/drawingml/2006/main">
              <a:ext uri="{FF2B5EF4-FFF2-40B4-BE49-F238E27FC236}">
                <a16:creationId xmlns:a16="http://schemas.microsoft.com/office/drawing/2014/main" id="{81C4A9A0-B050-4761-A8D4-F30DF222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Paper / 研究问题与比较方法</a:t>
            </a:r>
          </a:p>
        </p:txBody>
      </p:sp>
      <p:sp>
        <p:nvSpPr>
          <p:cNvPr id="2" name="text-36">
            <a:extLst xmlns:a="http://schemas.openxmlformats.org/drawingml/2006/main">
              <a:ext uri="{FF2B5EF4-FFF2-40B4-BE49-F238E27FC236}">
                <a16:creationId xmlns:a16="http://schemas.microsoft.com/office/drawing/2014/main" id="{98DBD596-B26C-45E9-91C9-C5359D94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通用 Agent 能否将设计意图编译为事务，由运行时完成 CAD 操作？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FFC71-2025-4580-BAD1-1601526C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78297458-5211-4D04-A8D4-897C1BA7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38">
            <a:extLst xmlns:a="http://schemas.openxmlformats.org/drawingml/2006/main">
              <a:ext uri="{FF2B5EF4-FFF2-40B4-BE49-F238E27FC236}">
                <a16:creationId xmlns:a16="http://schemas.microsoft.com/office/drawing/2014/main" id="{E203BE40-C6FD-4E14-91F0-71F62BAF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text-39">
            <a:extLst xmlns:a="http://schemas.openxmlformats.org/drawingml/2006/main">
              <a:ext uri="{FF2B5EF4-FFF2-40B4-BE49-F238E27FC236}">
                <a16:creationId xmlns:a16="http://schemas.microsoft.com/office/drawing/2014/main" id="{D3A0BABD-E93E-4529-8E71-D353A3CA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447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7" name="text-40">
            <a:extLst xmlns:a="http://schemas.openxmlformats.org/drawingml/2006/main">
              <a:ext uri="{FF2B5EF4-FFF2-40B4-BE49-F238E27FC236}">
                <a16:creationId xmlns:a16="http://schemas.microsoft.com/office/drawing/2014/main" id="{8DFC2F7D-40ED-456E-8512-6A97352F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114550"/>
            <a:ext cx="244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直接操作 CAD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F51D84-AF67-4641-9FC3-96A3E3F8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92405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8C53C7CA-6C4F-46F5-B593-547F35E1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3835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读取 CAD 对象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869A2-121C-45C6-8CC2-2AB9A5DE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92405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1" name="text-42">
            <a:extLst xmlns:a="http://schemas.openxmlformats.org/drawingml/2006/main">
              <a:ext uri="{FF2B5EF4-FFF2-40B4-BE49-F238E27FC236}">
                <a16:creationId xmlns:a16="http://schemas.microsoft.com/office/drawing/2014/main" id="{0A8671B6-A462-4152-9299-261DC65E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3835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逐步调用 CAD</a:t>
            </a:r>
          </a:p>
        </p:txBody>
      </p:sp>
      <p:cxnSp>
        <p:nvCxnSpPr>
          <p:cNvPr id="8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124575" y="22907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EAE0F-3343-4A49-8537-EA3D5B79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92405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4" name="text-43">
            <a:extLst xmlns:a="http://schemas.openxmlformats.org/drawingml/2006/main">
              <a:ext uri="{FF2B5EF4-FFF2-40B4-BE49-F238E27FC236}">
                <a16:creationId xmlns:a16="http://schemas.microsoft.com/office/drawing/2014/main" id="{EDE03BEA-7F0D-48C1-A9E1-F3EC68DA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03835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读取结果</a:t>
            </a:r>
          </a:p>
        </p:txBody>
      </p:sp>
      <p:cxnSp>
        <p:nvCxnSpPr>
          <p:cNvPr id="88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810625" y="229076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6" name="text-44">
            <a:extLst xmlns:a="http://schemas.openxmlformats.org/drawingml/2006/main">
              <a:ext uri="{FF2B5EF4-FFF2-40B4-BE49-F238E27FC236}">
                <a16:creationId xmlns:a16="http://schemas.microsoft.com/office/drawing/2014/main" id="{1510B45B-0A45-470D-84E3-D852B20A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81350"/>
            <a:ext cx="447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7" name="text-45">
            <a:extLst xmlns:a="http://schemas.openxmlformats.org/drawingml/2006/main">
              <a:ext uri="{FF2B5EF4-FFF2-40B4-BE49-F238E27FC236}">
                <a16:creationId xmlns:a16="http://schemas.microsoft.com/office/drawing/2014/main" id="{4BB07865-7069-4725-B8DF-DC50B7F2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209925"/>
            <a:ext cx="244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当前 ArchFlow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8B50A8-E550-4595-A4DF-2DD39B88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019425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9" name="text-46">
            <a:extLst xmlns:a="http://schemas.openxmlformats.org/drawingml/2006/main">
              <a:ext uri="{FF2B5EF4-FFF2-40B4-BE49-F238E27FC236}">
                <a16:creationId xmlns:a16="http://schemas.microsoft.com/office/drawing/2014/main" id="{FEEAF13F-02DD-4E37-8038-6CA5AA66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133725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读取项目状态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B86240-CB73-499D-B117-103DC47E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19425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1" name="text-47">
            <a:extLst xmlns:a="http://schemas.openxmlformats.org/drawingml/2006/main">
              <a:ext uri="{FF2B5EF4-FFF2-40B4-BE49-F238E27FC236}">
                <a16:creationId xmlns:a16="http://schemas.microsoft.com/office/drawing/2014/main" id="{67A32BFD-E96D-464F-B491-B4433E25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133725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多轮调用工具</a:t>
            </a:r>
          </a:p>
        </p:txBody>
      </p:sp>
      <p:cxnSp>
        <p:nvCxnSpPr>
          <p:cNvPr id="95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124575" y="33861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CD504B-4CD4-441C-BEAE-EA4CA799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019425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4" name="text-48">
            <a:extLst xmlns:a="http://schemas.openxmlformats.org/drawingml/2006/main">
              <a:ext uri="{FF2B5EF4-FFF2-40B4-BE49-F238E27FC236}">
                <a16:creationId xmlns:a16="http://schemas.microsoft.com/office/drawing/2014/main" id="{D8F6F957-EF3C-476E-95DA-6627CE4C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33725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验证候选</a:t>
            </a:r>
          </a:p>
        </p:txBody>
      </p:sp>
      <p:cxnSp>
        <p:nvCxnSpPr>
          <p:cNvPr id="98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8810625" y="338613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6" name="text-49">
            <a:extLst xmlns:a="http://schemas.openxmlformats.org/drawingml/2006/main">
              <a:ext uri="{FF2B5EF4-FFF2-40B4-BE49-F238E27FC236}">
                <a16:creationId xmlns:a16="http://schemas.microsoft.com/office/drawing/2014/main" id="{1D7DBD87-51E7-48F9-9790-4C130880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4476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7" name="text-50">
            <a:extLst xmlns:a="http://schemas.openxmlformats.org/drawingml/2006/main">
              <a:ext uri="{FF2B5EF4-FFF2-40B4-BE49-F238E27FC236}">
                <a16:creationId xmlns:a16="http://schemas.microsoft.com/office/drawing/2014/main" id="{86B06EED-470E-481B-8986-45D45B45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305300"/>
            <a:ext cx="24479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拟研究方案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32FA27-69BB-41C4-999A-A0965F57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11480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9" name="text-51">
            <a:extLst xmlns:a="http://schemas.openxmlformats.org/drawingml/2006/main">
              <a:ext uri="{FF2B5EF4-FFF2-40B4-BE49-F238E27FC236}">
                <a16:creationId xmlns:a16="http://schemas.microsoft.com/office/drawing/2014/main" id="{8C21E344-50F0-4D6F-8F01-F419C24A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22910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整理任务上下文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F54CBB-0577-4D52-8CE6-F3743C6F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1480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1" name="text-52">
            <a:extLst xmlns:a="http://schemas.openxmlformats.org/drawingml/2006/main">
              <a:ext uri="{FF2B5EF4-FFF2-40B4-BE49-F238E27FC236}">
                <a16:creationId xmlns:a16="http://schemas.microsoft.com/office/drawing/2014/main" id="{2ED95F19-0970-4FDC-A922-39BAC77E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22910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生成设计事务</a:t>
            </a:r>
          </a:p>
        </p:txBody>
      </p:sp>
      <p:cxnSp>
        <p:nvCxnSpPr>
          <p:cNvPr id="105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124575" y="44815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DE4282-C0AF-4CB6-9EF5-274AF070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114800"/>
            <a:ext cx="23431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4" name="text-53">
            <a:extLst xmlns:a="http://schemas.openxmlformats.org/drawingml/2006/main">
              <a:ext uri="{FF2B5EF4-FFF2-40B4-BE49-F238E27FC236}">
                <a16:creationId xmlns:a16="http://schemas.microsoft.com/office/drawing/2014/main" id="{E13FF3B0-A752-4D79-9D44-A22593DF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229100"/>
            <a:ext cx="2038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执行并生成候选</a:t>
            </a:r>
          </a:p>
        </p:txBody>
      </p:sp>
      <p:cxnSp>
        <p:nvCxnSpPr>
          <p:cNvPr id="108" name=""/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810625" y="4481513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36" name="text-54">
            <a:extLst xmlns:a="http://schemas.openxmlformats.org/drawingml/2006/main">
              <a:ext uri="{FF2B5EF4-FFF2-40B4-BE49-F238E27FC236}">
                <a16:creationId xmlns:a16="http://schemas.microsoft.com/office/drawing/2014/main" id="{A4E34ACF-B5A3-42B1-A930-3D198F16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305425"/>
            <a:ext cx="7781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固定任务、起始版本和模型配置，重复运行三种方案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A2C75F-DCC2-4E2D-B68A-45832D31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8" name="text-55">
            <a:extLst xmlns:a="http://schemas.openxmlformats.org/drawingml/2006/main">
              <a:ext uri="{FF2B5EF4-FFF2-40B4-BE49-F238E27FC236}">
                <a16:creationId xmlns:a16="http://schemas.microsoft.com/office/drawing/2014/main" id="{532194D5-91D2-42D1-BC03-4EF126BF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两周内完成研究架构图与比较实验，用首轮结果讨论研究判断</a:t>
            </a:r>
          </a:p>
        </p:txBody>
      </p:sp>
    </p:spTree>
    <p:extLst>
      <p:ext uri="{BB962C8B-B14F-4D97-AF65-F5344CB8AC3E}">
        <p14:creationId xmlns:p14="http://schemas.microsoft.com/office/powerpoint/2010/main" val="848768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56">
            <a:extLst xmlns:a="http://schemas.openxmlformats.org/drawingml/2006/main">
              <a:ext uri="{FF2B5EF4-FFF2-40B4-BE49-F238E27FC236}">
                <a16:creationId xmlns:a16="http://schemas.microsoft.com/office/drawing/2014/main" id="{A6229CAB-AA97-415B-A2B0-2534133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Blender / 模型的渲染与更新</a:t>
            </a:r>
          </a:p>
        </p:txBody>
      </p:sp>
      <p:sp>
        <p:nvSpPr>
          <p:cNvPr id="2" name="text-57">
            <a:extLst xmlns:a="http://schemas.openxmlformats.org/drawingml/2006/main">
              <a:ext uri="{FF2B5EF4-FFF2-40B4-BE49-F238E27FC236}">
                <a16:creationId xmlns:a16="http://schemas.microsoft.com/office/drawing/2014/main" id="{D66F61BD-AB97-4038-B59A-D23211F8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从 ArchFlow 项目生成原生 .blend 场景，并在设计修改后更新渲染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06562-A355-4760-B07F-E14E7678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58">
            <a:extLst xmlns:a="http://schemas.openxmlformats.org/drawingml/2006/main">
              <a:ext uri="{FF2B5EF4-FFF2-40B4-BE49-F238E27FC236}">
                <a16:creationId xmlns:a16="http://schemas.microsoft.com/office/drawing/2014/main" id="{451F2170-CA5D-4A8B-807F-C5A5CE16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59">
            <a:extLst xmlns:a="http://schemas.openxmlformats.org/drawingml/2006/main">
              <a:ext uri="{FF2B5EF4-FFF2-40B4-BE49-F238E27FC236}">
                <a16:creationId xmlns:a16="http://schemas.microsoft.com/office/drawing/2014/main" id="{4CC89C29-C1AC-4DF5-942B-FFAB82F0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329D3-72E7-4DA9-B43D-37EC7BB9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7" name="text-60">
            <a:extLst xmlns:a="http://schemas.openxmlformats.org/drawingml/2006/main">
              <a:ext uri="{FF2B5EF4-FFF2-40B4-BE49-F238E27FC236}">
                <a16:creationId xmlns:a16="http://schemas.microsoft.com/office/drawing/2014/main" id="{2A6B4504-7613-4D17-AD15-B42E15ED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02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项目状态</a:t>
            </a:r>
          </a:p>
        </p:txBody>
      </p:sp>
      <p:sp>
        <p:nvSpPr>
          <p:cNvPr id="8" name="text-61">
            <a:extLst xmlns:a="http://schemas.openxmlformats.org/drawingml/2006/main">
              <a:ext uri="{FF2B5EF4-FFF2-40B4-BE49-F238E27FC236}">
                <a16:creationId xmlns:a16="http://schemas.microsoft.com/office/drawing/2014/main" id="{891DD2D2-2650-44F7-82B0-A5DACD51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原始版本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902AE-552A-4145-870F-1EB3B0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0" name="text-62">
            <a:extLst xmlns:a="http://schemas.openxmlformats.org/drawingml/2006/main">
              <a:ext uri="{FF2B5EF4-FFF2-40B4-BE49-F238E27FC236}">
                <a16:creationId xmlns:a16="http://schemas.microsoft.com/office/drawing/2014/main" id="{34D1492E-77B8-45D3-88F9-DCF8B3F8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576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修改项目状态</a:t>
            </a:r>
          </a:p>
        </p:txBody>
      </p:sp>
      <p:sp>
        <p:nvSpPr>
          <p:cNvPr id="11" name="text-63">
            <a:extLst xmlns:a="http://schemas.openxmlformats.org/drawingml/2006/main">
              <a:ext uri="{FF2B5EF4-FFF2-40B4-BE49-F238E27FC236}">
                <a16:creationId xmlns:a16="http://schemas.microsoft.com/office/drawing/2014/main" id="{A1999E99-3768-4392-990F-143425A6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新的版本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A1A13-E6AD-488D-8114-43FF6D02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859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3" name="text-64">
            <a:extLst xmlns:a="http://schemas.openxmlformats.org/drawingml/2006/main">
              <a:ext uri="{FF2B5EF4-FFF2-40B4-BE49-F238E27FC236}">
                <a16:creationId xmlns:a16="http://schemas.microsoft.com/office/drawing/2014/main" id="{E74367BC-AB29-4BF3-9AAF-471FDE05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2002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.blend 场景</a:t>
            </a:r>
          </a:p>
        </p:txBody>
      </p:sp>
      <p:sp>
        <p:nvSpPr>
          <p:cNvPr id="14" name="text-65">
            <a:extLst xmlns:a="http://schemas.openxmlformats.org/drawingml/2006/main">
              <a:ext uri="{FF2B5EF4-FFF2-40B4-BE49-F238E27FC236}">
                <a16:creationId xmlns:a16="http://schemas.microsoft.com/office/drawing/2014/main" id="{368C5CEC-6C97-4D20-B08E-6665F63A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527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对象分组与材料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F5F5F-300F-46E9-B180-AA416B55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1433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6" name="text-66">
            <a:extLst xmlns:a="http://schemas.openxmlformats.org/drawingml/2006/main">
              <a:ext uri="{FF2B5EF4-FFF2-40B4-BE49-F238E27FC236}">
                <a16:creationId xmlns:a16="http://schemas.microsoft.com/office/drawing/2014/main" id="{55F305A0-47AA-4CE5-9A47-F8E892A5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2576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更新场景</a:t>
            </a:r>
          </a:p>
        </p:txBody>
      </p:sp>
      <p:sp>
        <p:nvSpPr>
          <p:cNvPr id="17" name="text-67">
            <a:extLst xmlns:a="http://schemas.openxmlformats.org/drawingml/2006/main">
              <a:ext uri="{FF2B5EF4-FFF2-40B4-BE49-F238E27FC236}">
                <a16:creationId xmlns:a16="http://schemas.microsoft.com/office/drawing/2014/main" id="{DE970EFD-F10B-49E1-9C37-175E23E4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6101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保留对象对应关系</a:t>
            </a:r>
          </a:p>
        </p:txBody>
      </p:sp>
      <p:cxnSp>
        <p:nvCxnSpPr>
          <p:cNvPr id="93" name=""/>
          <p:cNvCxnSpPr>
            <a:stCxn xmlns:a="http://schemas.openxmlformats.org/drawingml/2006/main" id="6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114675" y="26050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114675" y="46624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DA1A14-D54C-401C-9130-55B1CF78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859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1" name="text-68">
            <a:extLst xmlns:a="http://schemas.openxmlformats.org/drawingml/2006/main">
              <a:ext uri="{FF2B5EF4-FFF2-40B4-BE49-F238E27FC236}">
                <a16:creationId xmlns:a16="http://schemas.microsoft.com/office/drawing/2014/main" id="{A2E78CBE-DE9F-4AAD-9AAD-5A4B03CF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002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场景准备</a:t>
            </a:r>
          </a:p>
        </p:txBody>
      </p:sp>
      <p:sp>
        <p:nvSpPr>
          <p:cNvPr id="22" name="text-69">
            <a:extLst xmlns:a="http://schemas.openxmlformats.org/drawingml/2006/main">
              <a:ext uri="{FF2B5EF4-FFF2-40B4-BE49-F238E27FC236}">
                <a16:creationId xmlns:a16="http://schemas.microsoft.com/office/drawing/2014/main" id="{10970433-F5CC-4084-8050-C7D1E202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527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相机与基础照明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88A67C-AED9-4A5D-BCE5-35442DE7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43375"/>
            <a:ext cx="25241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4" name="text-70">
            <a:extLst xmlns:a="http://schemas.openxmlformats.org/drawingml/2006/main">
              <a:ext uri="{FF2B5EF4-FFF2-40B4-BE49-F238E27FC236}">
                <a16:creationId xmlns:a16="http://schemas.microsoft.com/office/drawing/2014/main" id="{43498204-831B-4820-9D23-E02D8FD6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57675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渲染设置</a:t>
            </a:r>
          </a:p>
        </p:txBody>
      </p:sp>
      <p:sp>
        <p:nvSpPr>
          <p:cNvPr id="25" name="text-71">
            <a:extLst xmlns:a="http://schemas.openxmlformats.org/drawingml/2006/main">
              <a:ext uri="{FF2B5EF4-FFF2-40B4-BE49-F238E27FC236}">
                <a16:creationId xmlns:a16="http://schemas.microsoft.com/office/drawing/2014/main" id="{D7B82627-14AD-49B4-88EC-F7E762DA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10100"/>
            <a:ext cx="22955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沿用相机与照明</a:t>
            </a:r>
          </a:p>
        </p:txBody>
      </p:sp>
      <p:cxnSp>
        <p:nvCxnSpPr>
          <p:cNvPr id="101" name=""/>
          <p:cNvCxnSpPr>
            <a:stCxn xmlns:a="http://schemas.openxmlformats.org/drawingml/2006/main" id="12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191250" y="26050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cxnSp>
        <p:nvCxnSpPr>
          <p:cNvPr id="102" name=""/>
          <p:cNvCxnSpPr>
            <a:stCxn xmlns:a="http://schemas.openxmlformats.org/drawingml/2006/main" id="15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6191250" y="46624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86D11F-C9EC-4019-92B4-9F8F0C60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085975"/>
            <a:ext cx="18002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9" name="text-72">
            <a:extLst xmlns:a="http://schemas.openxmlformats.org/drawingml/2006/main">
              <a:ext uri="{FF2B5EF4-FFF2-40B4-BE49-F238E27FC236}">
                <a16:creationId xmlns:a16="http://schemas.microsoft.com/office/drawing/2014/main" id="{00FB0BF3-4FE6-4197-816C-CA6C0DDB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200275"/>
            <a:ext cx="1495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PNG</a:t>
            </a:r>
          </a:p>
        </p:txBody>
      </p:sp>
      <p:sp>
        <p:nvSpPr>
          <p:cNvPr id="30" name="text-73">
            <a:extLst xmlns:a="http://schemas.openxmlformats.org/drawingml/2006/main">
              <a:ext uri="{FF2B5EF4-FFF2-40B4-BE49-F238E27FC236}">
                <a16:creationId xmlns:a16="http://schemas.microsoft.com/office/drawing/2014/main" id="{23BC6AFE-DCD3-4179-BB43-E15F50E0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552700"/>
            <a:ext cx="1571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第一次渲染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E1B2A9-8002-41B8-9B2D-759B35EB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143375"/>
            <a:ext cx="180022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2" name="text-74">
            <a:extLst xmlns:a="http://schemas.openxmlformats.org/drawingml/2006/main">
              <a:ext uri="{FF2B5EF4-FFF2-40B4-BE49-F238E27FC236}">
                <a16:creationId xmlns:a16="http://schemas.microsoft.com/office/drawing/2014/main" id="{A2E7D449-64C3-4C97-89E9-EE82C360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57675"/>
            <a:ext cx="1495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PNG</a:t>
            </a:r>
          </a:p>
        </p:txBody>
      </p:sp>
      <p:sp>
        <p:nvSpPr>
          <p:cNvPr id="33" name="text-75">
            <a:extLst xmlns:a="http://schemas.openxmlformats.org/drawingml/2006/main">
              <a:ext uri="{FF2B5EF4-FFF2-40B4-BE49-F238E27FC236}">
                <a16:creationId xmlns:a16="http://schemas.microsoft.com/office/drawing/2014/main" id="{D2BE9539-8899-47B2-81C8-5C5B012B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610100"/>
            <a:ext cx="1571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变化后的结果</a:t>
            </a:r>
          </a:p>
        </p:txBody>
      </p:sp>
      <p:cxnSp>
        <p:nvCxnSpPr>
          <p:cNvPr id="109" name=""/>
          <p:cNvCxnSpPr>
            <a:stCxn xmlns:a="http://schemas.openxmlformats.org/drawingml/2006/main" id="20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9267825" y="26050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23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9267825" y="46624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6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1852613" y="3124200"/>
            <a:ext cx="0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37" name="text-76">
            <a:extLst xmlns:a="http://schemas.openxmlformats.org/drawingml/2006/main">
              <a:ext uri="{FF2B5EF4-FFF2-40B4-BE49-F238E27FC236}">
                <a16:creationId xmlns:a16="http://schemas.microsoft.com/office/drawing/2014/main" id="{29304E53-DA5F-48A6-95E4-50BF8AE1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81375"/>
            <a:ext cx="562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项目修改后，重新生成或更新 Blender 场景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7D804A-9FCE-4731-B064-525E6DAA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9" name="text-77">
            <a:extLst xmlns:a="http://schemas.openxmlformats.org/drawingml/2006/main">
              <a:ext uri="{FF2B5EF4-FFF2-40B4-BE49-F238E27FC236}">
                <a16:creationId xmlns:a16="http://schemas.microsoft.com/office/drawing/2014/main" id="{9B348A97-D0F2-4E01-B8AF-3F5E0458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两周内完成场景文件和修改前后的两张渲染图，保持对象对应关系</a:t>
            </a:r>
          </a:p>
        </p:txBody>
      </p:sp>
    </p:spTree>
    <p:extLst>
      <p:ext uri="{BB962C8B-B14F-4D97-AF65-F5344CB8AC3E}">
        <p14:creationId xmlns:p14="http://schemas.microsoft.com/office/powerpoint/2010/main" val="9934831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78">
            <a:extLst xmlns:a="http://schemas.openxmlformats.org/drawingml/2006/main">
              <a:ext uri="{FF2B5EF4-FFF2-40B4-BE49-F238E27FC236}">
                <a16:creationId xmlns:a16="http://schemas.microsoft.com/office/drawing/2014/main" id="{7DC6B5AC-48DC-4251-A1CD-B3C0F94D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Interaction / 连续建模的操作体验</a:t>
            </a:r>
          </a:p>
        </p:txBody>
      </p:sp>
      <p:sp>
        <p:nvSpPr>
          <p:cNvPr id="2" name="text-79">
            <a:extLst xmlns:a="http://schemas.openxmlformats.org/drawingml/2006/main">
              <a:ext uri="{FF2B5EF4-FFF2-40B4-BE49-F238E27FC236}">
                <a16:creationId xmlns:a16="http://schemas.microsoft.com/office/drawing/2014/main" id="{744555D4-76F7-40F1-96A1-D62DD5A0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移动、复制、旋转与缩放已合入 main，接下来完善连续操作与吸附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46036-7D39-4E57-A3D2-B7CB9334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B95B746D-FBE6-4CDF-BA5A-312C8C37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81">
            <a:extLst xmlns:a="http://schemas.openxmlformats.org/drawingml/2006/main">
              <a:ext uri="{FF2B5EF4-FFF2-40B4-BE49-F238E27FC236}">
                <a16:creationId xmlns:a16="http://schemas.microsoft.com/office/drawing/2014/main" id="{E2509444-20A2-425A-92EA-21F18A72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BDE4F-444E-40BC-A992-1589A5CE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19325"/>
            <a:ext cx="25050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33C42D2F-5CC5-4EEE-B8A3-2C0DBDEE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选择 / 预选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23C8606E-CC8C-4989-AC1F-AF47954F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2276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确定操作对象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F7625-0A6B-4ACF-AD78-B2406372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19325"/>
            <a:ext cx="25050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0" name="text-84">
            <a:extLst xmlns:a="http://schemas.openxmlformats.org/drawingml/2006/main">
              <a:ext uri="{FF2B5EF4-FFF2-40B4-BE49-F238E27FC236}">
                <a16:creationId xmlns:a16="http://schemas.microsoft.com/office/drawing/2014/main" id="{7C060943-246C-4D78-A78D-9AA8F676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3336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指针操作</a:t>
            </a:r>
          </a:p>
        </p:txBody>
      </p:sp>
      <p:sp>
        <p:nvSpPr>
          <p:cNvPr id="11" name="text-85">
            <a:extLst xmlns:a="http://schemas.openxmlformats.org/drawingml/2006/main">
              <a:ext uri="{FF2B5EF4-FFF2-40B4-BE49-F238E27FC236}">
                <a16:creationId xmlns:a16="http://schemas.microsoft.com/office/drawing/2014/main" id="{8E526189-5169-48BF-80A3-B6C845B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2276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本地即时预览</a:t>
            </a:r>
          </a:p>
        </p:txBody>
      </p:sp>
      <p:cxnSp>
        <p:nvCxnSpPr>
          <p:cNvPr id="58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95625" y="27813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AE61F-86ED-4559-A46A-A548C73D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19325"/>
            <a:ext cx="25050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4" name="text-86">
            <a:extLst xmlns:a="http://schemas.openxmlformats.org/drawingml/2006/main">
              <a:ext uri="{FF2B5EF4-FFF2-40B4-BE49-F238E27FC236}">
                <a16:creationId xmlns:a16="http://schemas.microsoft.com/office/drawing/2014/main" id="{E6FC885C-C3BA-45A2-A662-D096A9F9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336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点击 / Enter</a:t>
            </a:r>
          </a:p>
        </p:txBody>
      </p:sp>
      <p:sp>
        <p:nvSpPr>
          <p:cNvPr id="15" name="text-87">
            <a:extLst xmlns:a="http://schemas.openxmlformats.org/drawingml/2006/main">
              <a:ext uri="{FF2B5EF4-FFF2-40B4-BE49-F238E27FC236}">
                <a16:creationId xmlns:a16="http://schemas.microsoft.com/office/drawing/2014/main" id="{E4AB6D34-F1AC-4718-B752-9AC5A35D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86050"/>
            <a:ext cx="2276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确认本次草稿修改</a:t>
            </a:r>
          </a:p>
        </p:txBody>
      </p: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43600" y="27813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0BB2E-8992-4326-8A2C-EF8C9463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219325"/>
            <a:ext cx="25050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8" name="text-88">
            <a:extLst xmlns:a="http://schemas.openxmlformats.org/drawingml/2006/main">
              <a:ext uri="{FF2B5EF4-FFF2-40B4-BE49-F238E27FC236}">
                <a16:creationId xmlns:a16="http://schemas.microsoft.com/office/drawing/2014/main" id="{ECFE3274-B605-4791-B655-CB3A2635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3336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手动 Sync</a:t>
            </a:r>
          </a:p>
        </p:txBody>
      </p:sp>
      <p:sp>
        <p:nvSpPr>
          <p:cNvPr id="19" name="text-89">
            <a:extLst xmlns:a="http://schemas.openxmlformats.org/drawingml/2006/main">
              <a:ext uri="{FF2B5EF4-FFF2-40B4-BE49-F238E27FC236}">
                <a16:creationId xmlns:a16="http://schemas.microsoft.com/office/drawing/2014/main" id="{7A430C47-F5C2-4A98-8EB7-279AC921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686050"/>
            <a:ext cx="22764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验证并保存候选</a:t>
            </a:r>
          </a:p>
        </p:txBody>
      </p:sp>
      <p:cxnSp>
        <p:nvCxnSpPr>
          <p:cNvPr id="66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791575" y="27813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7385B5-BFA6-4ED5-BDA6-0E4DB2CC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82010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4E705E"/>
            </a:solidFill>
          </a:ln>
        </p:spPr>
      </p:sp>
      <p:sp>
        <p:nvSpPr>
          <p:cNvPr id="22" name="text-90">
            <a:extLst xmlns:a="http://schemas.openxmlformats.org/drawingml/2006/main">
              <a:ext uri="{FF2B5EF4-FFF2-40B4-BE49-F238E27FC236}">
                <a16:creationId xmlns:a16="http://schemas.microsoft.com/office/drawing/2014/main" id="{5408A04F-D718-46A5-B2C2-84C5E65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62400"/>
            <a:ext cx="828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4E70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E705E"/>
                </a:solidFill>
                <a:latin typeface="Microsoft YaHei"/>
                <a:ea typeface="Microsoft YaHei"/>
                <a:cs typeface="Microsoft YaHei"/>
              </a:rPr>
              <a:t>指针操作在本地即时预览</a:t>
            </a:r>
          </a:p>
        </p:txBody>
      </p:sp>
      <p:sp>
        <p:nvSpPr>
          <p:cNvPr id="23" name="text-91">
            <a:extLst xmlns:a="http://schemas.openxmlformats.org/drawingml/2006/main">
              <a:ext uri="{FF2B5EF4-FFF2-40B4-BE49-F238E27FC236}">
                <a16:creationId xmlns:a16="http://schemas.microsoft.com/office/drawing/2014/main" id="{B739D82A-8F0F-4CA5-8615-4975D603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962400"/>
            <a:ext cx="24860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按需同步与保存</a:t>
            </a:r>
          </a:p>
        </p:txBody>
      </p:sp>
      <p:sp>
        <p:nvSpPr>
          <p:cNvPr id="24" name="text-92">
            <a:extLst xmlns:a="http://schemas.openxmlformats.org/drawingml/2006/main">
              <a:ext uri="{FF2B5EF4-FFF2-40B4-BE49-F238E27FC236}">
                <a16:creationId xmlns:a16="http://schemas.microsoft.com/office/drawing/2014/main" id="{AB2DC67B-30FE-4190-8543-0B7EF172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11029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近期重点是吸附的稳定性和必要的推断，大场景优化依据实际延迟展开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FE16F6-8AFB-497E-AF40-2C9AF1E0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6" name="text-93">
            <a:extLst xmlns:a="http://schemas.openxmlformats.org/drawingml/2006/main">
              <a:ext uri="{FF2B5EF4-FFF2-40B4-BE49-F238E27FC236}">
                <a16:creationId xmlns:a16="http://schemas.microsoft.com/office/drawing/2014/main" id="{FD63B148-322E-4173-B518-AA74EDBB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1101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通过连续创建和修改一个简单体量模型，检查操作是否流畅、连贯</a:t>
            </a:r>
          </a:p>
        </p:txBody>
      </p:sp>
    </p:spTree>
    <p:extLst>
      <p:ext uri="{BB962C8B-B14F-4D97-AF65-F5344CB8AC3E}">
        <p14:creationId xmlns:p14="http://schemas.microsoft.com/office/powerpoint/2010/main" val="11843083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94">
            <a:extLst xmlns:a="http://schemas.openxmlformats.org/drawingml/2006/main">
              <a:ext uri="{FF2B5EF4-FFF2-40B4-BE49-F238E27FC236}">
                <a16:creationId xmlns:a16="http://schemas.microsoft.com/office/drawing/2014/main" id="{50FDC256-D9F9-43D2-842A-8FDE3FF1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Backend / 执行耗时与模型调用</a:t>
            </a:r>
          </a:p>
        </p:txBody>
      </p:sp>
      <p:sp>
        <p:nvSpPr>
          <p:cNvPr id="2" name="text-95">
            <a:extLst xmlns:a="http://schemas.openxmlformats.org/drawingml/2006/main">
              <a:ext uri="{FF2B5EF4-FFF2-40B4-BE49-F238E27FC236}">
                <a16:creationId xmlns:a16="http://schemas.microsoft.com/office/drawing/2014/main" id="{F8EE8558-1DA6-42CA-9105-38D5D5B7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记录设计任务各环节的耗时，据此判断哪些模型调用可以省去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6AA4E-04C4-48D3-A343-EEEA9BEA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96">
            <a:extLst xmlns:a="http://schemas.openxmlformats.org/drawingml/2006/main">
              <a:ext uri="{FF2B5EF4-FFF2-40B4-BE49-F238E27FC236}">
                <a16:creationId xmlns:a16="http://schemas.microsoft.com/office/drawing/2014/main" id="{39234932-FE4F-43ED-AE5B-2779589B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97">
            <a:extLst xmlns:a="http://schemas.openxmlformats.org/drawingml/2006/main">
              <a:ext uri="{FF2B5EF4-FFF2-40B4-BE49-F238E27FC236}">
                <a16:creationId xmlns:a16="http://schemas.microsoft.com/office/drawing/2014/main" id="{DB3CFDDF-131E-4994-90CB-A2AF1C9B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text-98">
            <a:extLst xmlns:a="http://schemas.openxmlformats.org/drawingml/2006/main">
              <a:ext uri="{FF2B5EF4-FFF2-40B4-BE49-F238E27FC236}">
                <a16:creationId xmlns:a16="http://schemas.microsoft.com/office/drawing/2014/main" id="{5DA2F857-EE9E-45EE-949F-82244309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102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近期工作：记录从请求到预览的完整过程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07446A-09E8-4C5A-A630-943DBCE2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8" name="text-99">
            <a:extLst xmlns:a="http://schemas.openxmlformats.org/drawingml/2006/main">
              <a:ext uri="{FF2B5EF4-FFF2-40B4-BE49-F238E27FC236}">
                <a16:creationId xmlns:a16="http://schemas.microsoft.com/office/drawing/2014/main" id="{6DD9513E-995F-4938-9E3F-66BE5B53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76C83-AE7D-4D13-B9AF-8C3A65C3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0" name="text-100">
            <a:extLst xmlns:a="http://schemas.openxmlformats.org/drawingml/2006/main">
              <a:ext uri="{FF2B5EF4-FFF2-40B4-BE49-F238E27FC236}">
                <a16:creationId xmlns:a16="http://schemas.microsoft.com/office/drawing/2014/main" id="{E8230C05-7472-4124-91E5-6CDE0D35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Hub</a:t>
            </a:r>
          </a:p>
        </p:txBody>
      </p:sp>
      <p:cxnSp>
        <p:nvCxnSpPr>
          <p:cNvPr id="93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209800" y="2890838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714FB-8C2D-4E30-B6FD-4E9661AE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3" name="text-101">
            <a:extLst xmlns:a="http://schemas.openxmlformats.org/drawingml/2006/main">
              <a:ext uri="{FF2B5EF4-FFF2-40B4-BE49-F238E27FC236}">
                <a16:creationId xmlns:a16="http://schemas.microsoft.com/office/drawing/2014/main" id="{CCEF90B7-E587-4815-B972-FD760354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Studio</a:t>
            </a:r>
          </a:p>
        </p:txBody>
      </p:sp>
      <p:cxnSp>
        <p:nvCxnSpPr>
          <p:cNvPr id="96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095750" y="2890838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A9F4D0-206B-42FE-B71E-A99D5DB9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6" name="text-102">
            <a:extLst xmlns:a="http://schemas.openxmlformats.org/drawingml/2006/main">
              <a:ext uri="{FF2B5EF4-FFF2-40B4-BE49-F238E27FC236}">
                <a16:creationId xmlns:a16="http://schemas.microsoft.com/office/drawing/2014/main" id="{6DE4D671-5D2D-44ED-90D1-81C36517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CAD</a:t>
            </a:r>
          </a:p>
        </p:txBody>
      </p:sp>
      <p:cxnSp>
        <p:nvCxnSpPr>
          <p:cNvPr id="99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981700" y="2890838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590596-8601-4202-BCD2-22BC165D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9" name="text-103">
            <a:extLst xmlns:a="http://schemas.openxmlformats.org/drawingml/2006/main">
              <a:ext uri="{FF2B5EF4-FFF2-40B4-BE49-F238E27FC236}">
                <a16:creationId xmlns:a16="http://schemas.microsoft.com/office/drawing/2014/main" id="{FB5C892F-7F40-4768-88CE-7EB6F3D2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cxnSp>
        <p:nvCxnSpPr>
          <p:cNvPr id="102" name=""/>
          <p:cNvCxnSpPr>
            <a:stCxn xmlns:a="http://schemas.openxmlformats.org/drawingml/2006/main" id="15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867650" y="2890838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102A53-10EF-4512-A1B5-ED3E4DF4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581275"/>
            <a:ext cx="1619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2" name="text-104">
            <a:extLst xmlns:a="http://schemas.openxmlformats.org/drawingml/2006/main">
              <a:ext uri="{FF2B5EF4-FFF2-40B4-BE49-F238E27FC236}">
                <a16:creationId xmlns:a16="http://schemas.microsoft.com/office/drawing/2014/main" id="{6BF92E1B-7156-49D3-A016-AB46AF5D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95575"/>
            <a:ext cx="1314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预览</a:t>
            </a:r>
          </a:p>
        </p:txBody>
      </p:sp>
      <p:cxnSp>
        <p:nvCxnSpPr>
          <p:cNvPr id="105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9753600" y="2890838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4" name="text-105">
            <a:extLst xmlns:a="http://schemas.openxmlformats.org/drawingml/2006/main">
              <a:ext uri="{FF2B5EF4-FFF2-40B4-BE49-F238E27FC236}">
                <a16:creationId xmlns:a16="http://schemas.microsoft.com/office/drawing/2014/main" id="{1E74E584-0E15-4EF3-B80F-40A1A4D7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1102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Monitor 展示各步骤耗时及其依赖关系，同时汇总用量与费用依据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1ED000-1163-4C2E-9CFF-3A5DEACA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11029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6" name="text-106">
            <a:extLst xmlns:a="http://schemas.openxmlformats.org/drawingml/2006/main">
              <a:ext uri="{FF2B5EF4-FFF2-40B4-BE49-F238E27FC236}">
                <a16:creationId xmlns:a16="http://schemas.microsoft.com/office/drawing/2014/main" id="{C06F0F15-3F8B-4258-8ADC-87F68EB5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24350"/>
            <a:ext cx="1102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后续实验：用相同任务比较模型调用次数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13A541-000E-4DF2-ACD5-283EBA77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25050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28" name="text-107">
            <a:extLst xmlns:a="http://schemas.openxmlformats.org/drawingml/2006/main">
              <a:ext uri="{FF2B5EF4-FFF2-40B4-BE49-F238E27FC236}">
                <a16:creationId xmlns:a16="http://schemas.microsoft.com/office/drawing/2014/main" id="{DB9CE9AF-5CD2-445D-BDC3-8623A533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625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ContextPack</a:t>
            </a:r>
          </a:p>
        </p:txBody>
      </p:sp>
      <p:sp>
        <p:nvSpPr>
          <p:cNvPr id="29" name="text-108">
            <a:extLst xmlns:a="http://schemas.openxmlformats.org/drawingml/2006/main">
              <a:ext uri="{FF2B5EF4-FFF2-40B4-BE49-F238E27FC236}">
                <a16:creationId xmlns:a16="http://schemas.microsoft.com/office/drawing/2014/main" id="{F2582C5D-5854-4941-800A-E567CAF0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2276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汇集本次判断所需信息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23F4E1-E607-40F9-8A48-5B3A3A3E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848225"/>
            <a:ext cx="25050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1" name="text-109">
            <a:extLst xmlns:a="http://schemas.openxmlformats.org/drawingml/2006/main">
              <a:ext uri="{FF2B5EF4-FFF2-40B4-BE49-F238E27FC236}">
                <a16:creationId xmlns:a16="http://schemas.microsoft.com/office/drawing/2014/main" id="{F487C725-F3FB-4838-99A5-BC06AD20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9625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Agent 决策</a:t>
            </a:r>
          </a:p>
        </p:txBody>
      </p:sp>
      <p:sp>
        <p:nvSpPr>
          <p:cNvPr id="32" name="text-110">
            <a:extLst xmlns:a="http://schemas.openxmlformats.org/drawingml/2006/main">
              <a:ext uri="{FF2B5EF4-FFF2-40B4-BE49-F238E27FC236}">
                <a16:creationId xmlns:a16="http://schemas.microsoft.com/office/drawing/2014/main" id="{E384512C-665C-4606-B8D8-C1D928BD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5314950"/>
            <a:ext cx="2276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将修改组织为事务</a:t>
            </a:r>
          </a:p>
        </p:txBody>
      </p:sp>
      <p:cxnSp>
        <p:nvCxnSpPr>
          <p:cNvPr id="115" name=""/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3095625" y="52673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08A5FD-5DD7-4A35-8122-BAF142B5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48225"/>
            <a:ext cx="25050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5" name="text-111">
            <a:extLst xmlns:a="http://schemas.openxmlformats.org/drawingml/2006/main">
              <a:ext uri="{FF2B5EF4-FFF2-40B4-BE49-F238E27FC236}">
                <a16:creationId xmlns:a16="http://schemas.microsoft.com/office/drawing/2014/main" id="{838A565C-E6E7-4F33-AB62-B4FCBD77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625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Runtime</a:t>
            </a:r>
          </a:p>
        </p:txBody>
      </p:sp>
      <p:sp>
        <p:nvSpPr>
          <p:cNvPr id="36" name="text-112">
            <a:extLst xmlns:a="http://schemas.openxmlformats.org/drawingml/2006/main">
              <a:ext uri="{FF2B5EF4-FFF2-40B4-BE49-F238E27FC236}">
                <a16:creationId xmlns:a16="http://schemas.microsoft.com/office/drawing/2014/main" id="{72184D69-01F6-44C4-86E9-4B0BD6DF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2276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执行事务并读取结果</a:t>
            </a:r>
          </a:p>
        </p:txBody>
      </p:sp>
      <p:cxnSp>
        <p:nvCxnSpPr>
          <p:cNvPr id="119" name=""/>
          <p:cNvCxnSpPr>
            <a:stCxn xmlns:a="http://schemas.openxmlformats.org/drawingml/2006/main" id="30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5943600" y="52673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B72E3A-90F7-4E8F-AE34-7BA107F5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848225"/>
            <a:ext cx="25050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39" name="text-113">
            <a:extLst xmlns:a="http://schemas.openxmlformats.org/drawingml/2006/main">
              <a:ext uri="{FF2B5EF4-FFF2-40B4-BE49-F238E27FC236}">
                <a16:creationId xmlns:a16="http://schemas.microsoft.com/office/drawing/2014/main" id="{E08C452E-5C1F-4D15-8AED-42F980E2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96252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</p:txBody>
      </p:sp>
      <p:sp>
        <p:nvSpPr>
          <p:cNvPr id="40" name="text-114">
            <a:extLst xmlns:a="http://schemas.openxmlformats.org/drawingml/2006/main">
              <a:ext uri="{FF2B5EF4-FFF2-40B4-BE49-F238E27FC236}">
                <a16:creationId xmlns:a16="http://schemas.microsoft.com/office/drawing/2014/main" id="{DD317070-D22B-4B20-A8E7-5421C31E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5314950"/>
            <a:ext cx="2276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遇到歧义时请求判断</a:t>
            </a:r>
          </a:p>
        </p:txBody>
      </p:sp>
      <p:cxnSp>
        <p:nvCxnSpPr>
          <p:cNvPr id="123" name=""/>
          <p:cNvCxnSpPr>
            <a:stCxn xmlns:a="http://schemas.openxmlformats.org/drawingml/2006/main" id="34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791575" y="52673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3207349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3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5">
            <a:extLst xmlns:a="http://schemas.openxmlformats.org/drawingml/2006/main">
              <a:ext uri="{FF2B5EF4-FFF2-40B4-BE49-F238E27FC236}">
                <a16:creationId xmlns:a16="http://schemas.microsoft.com/office/drawing/2014/main" id="{9D847629-AEEB-4037-9F45-E3370772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分工与协作安排</a:t>
            </a:r>
          </a:p>
        </p:txBody>
      </p:sp>
      <p:sp>
        <p:nvSpPr>
          <p:cNvPr id="2" name="text-116">
            <a:extLst xmlns:a="http://schemas.openxmlformats.org/drawingml/2006/main">
              <a:ext uri="{FF2B5EF4-FFF2-40B4-BE49-F238E27FC236}">
                <a16:creationId xmlns:a16="http://schemas.microsoft.com/office/drawing/2014/main" id="{625A4291-691A-453C-8126-EC063695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52525"/>
            <a:ext cx="1100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各组从 main 建立独立分支，共用接口的修改单独提交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912740-E079-4353-8A7B-79C50C06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15075"/>
            <a:ext cx="1104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4" name="text-117">
            <a:extLst xmlns:a="http://schemas.openxmlformats.org/drawingml/2006/main">
              <a:ext uri="{FF2B5EF4-FFF2-40B4-BE49-F238E27FC236}">
                <a16:creationId xmlns:a16="http://schemas.microsoft.com/office/drawing/2014/main" id="{D529B805-22A1-4951-BC60-86524D4E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952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ArchFlow / Monkey · 团队会议 · 2026.09.14</a:t>
            </a:r>
          </a:p>
        </p:txBody>
      </p:sp>
      <p:sp>
        <p:nvSpPr>
          <p:cNvPr id="5" name="text-118">
            <a:extLst xmlns:a="http://schemas.openxmlformats.org/drawingml/2006/main">
              <a:ext uri="{FF2B5EF4-FFF2-40B4-BE49-F238E27FC236}">
                <a16:creationId xmlns:a16="http://schemas.microsoft.com/office/drawing/2014/main" id="{9287CC04-2421-42ED-8A19-1131F9E3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6AE18-5043-49F7-BAE7-D69DED4C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2505075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7" name="text-119">
            <a:extLst xmlns:a="http://schemas.openxmlformats.org/drawingml/2006/main">
              <a:ext uri="{FF2B5EF4-FFF2-40B4-BE49-F238E27FC236}">
                <a16:creationId xmlns:a16="http://schemas.microsoft.com/office/drawing/2014/main" id="{954F53B0-231F-44D2-B6CA-8855E4235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了解现有工作</a:t>
            </a:r>
          </a:p>
        </p:txBody>
      </p:sp>
      <p:sp>
        <p:nvSpPr>
          <p:cNvPr id="8" name="text-120">
            <a:extLst xmlns:a="http://schemas.openxmlformats.org/drawingml/2006/main">
              <a:ext uri="{FF2B5EF4-FFF2-40B4-BE49-F238E27FC236}">
                <a16:creationId xmlns:a16="http://schemas.microsoft.com/office/drawing/2014/main" id="{89B92A76-2E55-43B1-9823-B0ED81C0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76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模块职责与接口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F582B-C5AE-439F-94F5-279E0C70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009775"/>
            <a:ext cx="2505075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0" name="text-121">
            <a:extLst xmlns:a="http://schemas.openxmlformats.org/drawingml/2006/main">
              <a:ext uri="{FF2B5EF4-FFF2-40B4-BE49-F238E27FC236}">
                <a16:creationId xmlns:a16="http://schemas.microsoft.com/office/drawing/2014/main" id="{3EA8BEF5-896E-4408-A23B-6D8394D3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12407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建立独立分支</a:t>
            </a:r>
          </a:p>
        </p:txBody>
      </p:sp>
      <p:sp>
        <p:nvSpPr>
          <p:cNvPr id="11" name="text-122">
            <a:extLst xmlns:a="http://schemas.openxmlformats.org/drawingml/2006/main">
              <a:ext uri="{FF2B5EF4-FFF2-40B4-BE49-F238E27FC236}">
                <a16:creationId xmlns:a16="http://schemas.microsoft.com/office/drawing/2014/main" id="{816E979B-1A1D-403F-90B3-5A7C0657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2276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分开保存各组修改</a:t>
            </a:r>
          </a:p>
        </p:txBody>
      </p:sp>
      <p:cxnSp>
        <p:nvCxnSpPr>
          <p:cNvPr id="60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95625" y="24907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43082-69D4-4097-AD6F-14102C5F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9775"/>
            <a:ext cx="2505075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4" name="text-123">
            <a:extLst xmlns:a="http://schemas.openxmlformats.org/drawingml/2006/main">
              <a:ext uri="{FF2B5EF4-FFF2-40B4-BE49-F238E27FC236}">
                <a16:creationId xmlns:a16="http://schemas.microsoft.com/office/drawing/2014/main" id="{AEC46D24-F4C5-4456-A5AB-E0195C1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2407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提交 PR</a:t>
            </a:r>
          </a:p>
        </p:txBody>
      </p:sp>
      <p:sp>
        <p:nvSpPr>
          <p:cNvPr id="15" name="text-124">
            <a:extLst xmlns:a="http://schemas.openxmlformats.org/drawingml/2006/main">
              <a:ext uri="{FF2B5EF4-FFF2-40B4-BE49-F238E27FC236}">
                <a16:creationId xmlns:a16="http://schemas.microsoft.com/office/drawing/2014/main" id="{FD2DF754-11DD-4347-A5E8-015458D0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76500"/>
            <a:ext cx="2276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说明修改与检查结果</a:t>
            </a:r>
          </a:p>
        </p:txBody>
      </p:sp>
      <p:cxnSp>
        <p:nvCxnSpPr>
          <p:cNvPr id="64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943600" y="24907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7292EE-F3A7-4AB2-A006-5D6E9104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009775"/>
            <a:ext cx="2505075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BE4"/>
          </a:solidFill>
          <a:ln xmlns:a="http://schemas.openxmlformats.org/drawingml/2006/main" w="11430">
            <a:solidFill>
              <a:srgbClr val="C7CBC4"/>
            </a:solidFill>
          </a:ln>
        </p:spPr>
      </p:sp>
      <p:sp>
        <p:nvSpPr>
          <p:cNvPr id="18" name="text-125">
            <a:extLst xmlns:a="http://schemas.openxmlformats.org/drawingml/2006/main">
              <a:ext uri="{FF2B5EF4-FFF2-40B4-BE49-F238E27FC236}">
                <a16:creationId xmlns:a16="http://schemas.microsoft.com/office/drawing/2014/main" id="{83E70CAC-A7F5-4D3D-8189-C81C788C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24075"/>
            <a:ext cx="2200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合入 main</a:t>
            </a:r>
          </a:p>
        </p:txBody>
      </p:sp>
      <p:sp>
        <p:nvSpPr>
          <p:cNvPr id="19" name="text-126">
            <a:extLst xmlns:a="http://schemas.openxmlformats.org/drawingml/2006/main">
              <a:ext uri="{FF2B5EF4-FFF2-40B4-BE49-F238E27FC236}">
                <a16:creationId xmlns:a16="http://schemas.microsoft.com/office/drawing/2014/main" id="{CD99CC08-9F6A-426E-8436-DB485C80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476500"/>
            <a:ext cx="2276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作为后续工作的起点</a:t>
            </a:r>
          </a:p>
        </p:txBody>
      </p:sp>
      <p:cxnSp>
        <p:nvCxnSpPr>
          <p:cNvPr id="6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791575" y="2490788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646B66"/>
            </a:solidFill>
            <a:tailEnd type="triangle" w="sm" len="sm"/>
          </a:ln>
        </p:spPr>
      </p:cxnSp>
      <p:sp>
        <p:nvSpPr>
          <p:cNvPr id="21" name="text-127">
            <a:extLst xmlns:a="http://schemas.openxmlformats.org/drawingml/2006/main">
              <a:ext uri="{FF2B5EF4-FFF2-40B4-BE49-F238E27FC236}">
                <a16:creationId xmlns:a16="http://schemas.microsoft.com/office/drawing/2014/main" id="{91CFEA18-B343-4486-A20B-824BEED5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86150"/>
            <a:ext cx="110299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B74736"/>
                </a:solidFill>
                <a:latin typeface="Microsoft YaHei"/>
                <a:ea typeface="Microsoft YaHei"/>
                <a:cs typeface="Microsoft YaHei"/>
              </a:rPr>
              <a:t>会议需确定的分工</a:t>
            </a:r>
          </a:p>
        </p:txBody>
      </p:sp>
      <p:sp>
        <p:nvSpPr>
          <p:cNvPr id="22" name="text-128">
            <a:extLst xmlns:a="http://schemas.openxmlformats.org/drawingml/2006/main">
              <a:ext uri="{FF2B5EF4-FFF2-40B4-BE49-F238E27FC236}">
                <a16:creationId xmlns:a16="http://schemas.microsoft.com/office/drawing/2014/main" id="{A40B4047-FCDF-491C-A0ED-9CD448DB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24325"/>
            <a:ext cx="2219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负责人</a:t>
            </a:r>
          </a:p>
        </p:txBody>
      </p:sp>
      <p:sp>
        <p:nvSpPr>
          <p:cNvPr id="23" name="text-129">
            <a:extLst xmlns:a="http://schemas.openxmlformats.org/drawingml/2006/main">
              <a:ext uri="{FF2B5EF4-FFF2-40B4-BE49-F238E27FC236}">
                <a16:creationId xmlns:a16="http://schemas.microsoft.com/office/drawing/2014/main" id="{D95D0A4F-0E6F-4969-BCD9-EF6F3128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124325"/>
            <a:ext cx="8496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认领的方向及对应任务</a:t>
            </a:r>
          </a:p>
        </p:txBody>
      </p:sp>
      <p:sp>
        <p:nvSpPr>
          <p:cNvPr id="24" name="text-130">
            <a:extLst xmlns:a="http://schemas.openxmlformats.org/drawingml/2006/main">
              <a:ext uri="{FF2B5EF4-FFF2-40B4-BE49-F238E27FC236}">
                <a16:creationId xmlns:a16="http://schemas.microsoft.com/office/drawing/2014/main" id="{6383CBAA-191B-4394-BB1F-D25C26FA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2219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近期成果</a:t>
            </a:r>
          </a:p>
        </p:txBody>
      </p:sp>
      <p:sp>
        <p:nvSpPr>
          <p:cNvPr id="25" name="text-131">
            <a:extLst xmlns:a="http://schemas.openxmlformats.org/drawingml/2006/main">
              <a:ext uri="{FF2B5EF4-FFF2-40B4-BE49-F238E27FC236}">
                <a16:creationId xmlns:a16="http://schemas.microsoft.com/office/drawing/2014/main" id="{D7B420F8-46FD-4B22-AF79-38E4D80B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667250"/>
            <a:ext cx="8496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首个 PR 或研究材料，涉及的文件与模块</a:t>
            </a:r>
          </a:p>
        </p:txBody>
      </p:sp>
      <p:sp>
        <p:nvSpPr>
          <p:cNvPr id="26" name="text-132">
            <a:extLst xmlns:a="http://schemas.openxmlformats.org/drawingml/2006/main">
              <a:ext uri="{FF2B5EF4-FFF2-40B4-BE49-F238E27FC236}">
                <a16:creationId xmlns:a16="http://schemas.microsoft.com/office/drawing/2014/main" id="{8AB028FF-B31A-4812-A007-68268D5C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0175"/>
            <a:ext cx="2219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完成条件</a:t>
            </a:r>
          </a:p>
        </p:txBody>
      </p:sp>
      <p:sp>
        <p:nvSpPr>
          <p:cNvPr id="27" name="text-133">
            <a:extLst xmlns:a="http://schemas.openxmlformats.org/drawingml/2006/main">
              <a:ext uri="{FF2B5EF4-FFF2-40B4-BE49-F238E27FC236}">
                <a16:creationId xmlns:a16="http://schemas.microsoft.com/office/drawing/2014/main" id="{BC142E07-0530-44DC-B6EE-671ACB38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210175"/>
            <a:ext cx="8496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2321"/>
                </a:solidFill>
                <a:latin typeface="Microsoft YaHei"/>
                <a:ea typeface="Microsoft YaHei"/>
                <a:cs typeface="Microsoft YaHei"/>
              </a:rPr>
              <a:t>检查方法，以及需要其他组先完成的工作</a:t>
            </a:r>
          </a:p>
        </p:txBody>
      </p:sp>
      <p:sp>
        <p:nvSpPr>
          <p:cNvPr id="28" name="text-134">
            <a:extLst xmlns:a="http://schemas.openxmlformats.org/drawingml/2006/main">
              <a:ext uri="{FF2B5EF4-FFF2-40B4-BE49-F238E27FC236}">
                <a16:creationId xmlns:a16="http://schemas.microsoft.com/office/drawing/2014/main" id="{EF24920C-971F-4E4F-9F05-8689B433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11029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46B66"/>
                </a:solidFill>
                <a:latin typeface="Microsoft YaHei"/>
                <a:ea typeface="Microsoft YaHei"/>
                <a:cs typeface="Microsoft YaHei"/>
              </a:rPr>
              <a:t>后续工作：Board 协作、桌面完整打包、任务恢复及 Diagram / Fab 扩展</a:t>
            </a:r>
          </a:p>
        </p:txBody>
      </p:sp>
    </p:spTree>
    <p:extLst>
      <p:ext uri="{BB962C8B-B14F-4D97-AF65-F5344CB8AC3E}">
        <p14:creationId xmlns:p14="http://schemas.microsoft.com/office/powerpoint/2010/main" val="1682735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2026-09-13T13:13:35.8840000Z</dcterms:created>
  <dcterms:modified xsi:type="dcterms:W3CDTF">2026-09-13T13:13:35.8840000Z</dcterms:modified>
</coreProperties>
</file>