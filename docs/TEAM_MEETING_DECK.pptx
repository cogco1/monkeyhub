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671947e48046f3" /><Relationship Type="http://schemas.openxmlformats.org/officeDocument/2006/relationships/extended-properties" Target="/docProps/app.xml" Id="R45647b2aa8d24c82" /><Relationship Type="http://schemas.openxmlformats.org/officeDocument/2006/relationships/officeDocument" Target="/ppt/presentation.xml" Id="R09b661ae365e4b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5894cdc0dc467e"/>
  </p:sldMasterIdLst>
  <p:notesMasterIdLst>
    <p:notesMasterId xmlns:r="http://schemas.openxmlformats.org/officeDocument/2006/relationships" r:id="R3a76741a1db44feb"/>
  </p:notesMasterIdLst>
  <p:sldIdLst>
    <p:sldId xmlns:r="http://schemas.openxmlformats.org/officeDocument/2006/relationships" id="256" r:id="Rf09f52ba60774289"/>
    <p:sldId xmlns:r="http://schemas.openxmlformats.org/officeDocument/2006/relationships" id="257" r:id="R674a691772814ee7"/>
    <p:sldId xmlns:r="http://schemas.openxmlformats.org/officeDocument/2006/relationships" id="258" r:id="R97a75c618902442f"/>
    <p:sldId xmlns:r="http://schemas.openxmlformats.org/officeDocument/2006/relationships" id="259" r:id="Rdfd8bac1707e4400"/>
    <p:sldId xmlns:r="http://schemas.openxmlformats.org/officeDocument/2006/relationships" id="260" r:id="R165bc53145854a84"/>
    <p:sldId xmlns:r="http://schemas.openxmlformats.org/officeDocument/2006/relationships" id="261" r:id="R2c261407cefc45d3"/>
    <p:sldId xmlns:r="http://schemas.openxmlformats.org/officeDocument/2006/relationships" id="262" r:id="R3667a2cc9cea4c4d"/>
    <p:sldId xmlns:r="http://schemas.openxmlformats.org/officeDocument/2006/relationships" id="263" r:id="R4c604f48cddd4c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0e0846820047a0" /><Relationship Type="http://schemas.openxmlformats.org/officeDocument/2006/relationships/slideMaster" Target="/ppt/slideMasters/slideMaster1.xml" Id="R845894cdc0dc467e" /><Relationship Type="http://schemas.openxmlformats.org/officeDocument/2006/relationships/notesMaster" Target="/ppt/notesMasters/notesMaster1.xml" Id="R3a76741a1db44feb" /><Relationship Type="http://schemas.openxmlformats.org/officeDocument/2006/relationships/presProps" Target="/ppt/presProps.xml" Id="R5fd827301c8d4e4f" /><Relationship Type="http://schemas.openxmlformats.org/officeDocument/2006/relationships/tableStyles" Target="/ppt/tableStyles.xml" Id="Rb0654da902fd4fe6" /><Relationship Type="http://schemas.openxmlformats.org/officeDocument/2006/relationships/slide" Target="/ppt/slides/slide1.xml" Id="Rf09f52ba60774289" /><Relationship Type="http://schemas.openxmlformats.org/officeDocument/2006/relationships/slide" Target="/ppt/slides/slide2.xml" Id="R674a691772814ee7" /><Relationship Type="http://schemas.openxmlformats.org/officeDocument/2006/relationships/slide" Target="/ppt/slides/slide3.xml" Id="R97a75c618902442f" /><Relationship Type="http://schemas.openxmlformats.org/officeDocument/2006/relationships/slide" Target="/ppt/slides/slide4.xml" Id="Rdfd8bac1707e4400" /><Relationship Type="http://schemas.openxmlformats.org/officeDocument/2006/relationships/slide" Target="/ppt/slides/slide5.xml" Id="R165bc53145854a84" /><Relationship Type="http://schemas.openxmlformats.org/officeDocument/2006/relationships/slide" Target="/ppt/slides/slide6.xml" Id="R2c261407cefc45d3" /><Relationship Type="http://schemas.openxmlformats.org/officeDocument/2006/relationships/slide" Target="/ppt/slides/slide7.xml" Id="R3667a2cc9cea4c4d" /><Relationship Type="http://schemas.openxmlformats.org/officeDocument/2006/relationships/slide" Target="/ppt/slides/slide8.xml" Id="R4c604f48cddd4c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7b8487229246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86a7677d684629" /><Relationship Type="http://schemas.openxmlformats.org/officeDocument/2006/relationships/notesMaster" Target="/ppt/notesMasters/notesMaster1.xml" Id="R09f6a40415864e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84efb66a584bf2" /><Relationship Type="http://schemas.openxmlformats.org/officeDocument/2006/relationships/notesMaster" Target="/ppt/notesMasters/notesMaster1.xml" Id="R8324120b855646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6c585c9e4044c6" /><Relationship Type="http://schemas.openxmlformats.org/officeDocument/2006/relationships/notesMaster" Target="/ppt/notesMasters/notesMaster1.xml" Id="Rd585154752c44e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5fed6962c442e2" /><Relationship Type="http://schemas.openxmlformats.org/officeDocument/2006/relationships/notesMaster" Target="/ppt/notesMasters/notesMaster1.xml" Id="R73553d64319f44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49912e691a4261" /><Relationship Type="http://schemas.openxmlformats.org/officeDocument/2006/relationships/notesMaster" Target="/ppt/notesMasters/notesMaster1.xml" Id="R5643e5172c8f40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8a7ddc9ca74435" /><Relationship Type="http://schemas.openxmlformats.org/officeDocument/2006/relationships/notesMaster" Target="/ppt/notesMasters/notesMaster1.xml" Id="Rc8368feedb4d4e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2ea5c83a7c48e0" /><Relationship Type="http://schemas.openxmlformats.org/officeDocument/2006/relationships/notesMaster" Target="/ppt/notesMasters/notesMaster1.xml" Id="R1b661d1cb40647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cef8dde50a4af0" /><Relationship Type="http://schemas.openxmlformats.org/officeDocument/2006/relationships/notesMaster" Target="/ppt/notesMasters/notesMaster1.xml" Id="R5f266a9d183d47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开场0–4分钟：每人介绍姓名、背景和感兴趣的工作线。现状4–8分钟：原型已有，会议重点是将产品与研究组织成可交付的共同工作。所有状态指源码；已安装或正在运行的Hub不因此自动升级。PR33为桌面Phase A，已于2026-09-13合入；独立分发及干净环境验收仍为后续工作。</a:t>
            </a:r>
          </a:p>
          <a:p xmlns:a="http://schemas.openxmlformats.org/drawingml/2006/main">
            <a:r>
              <a:t>来源：https://github.com/cogco1/ARCHFLOW_V4/pull/28</a:t>
            </a:r>
          </a:p>
          <a:p xmlns:a="http://schemas.openxmlformats.org/drawingml/2006/main">
            <a:r>
              <a:t>https://github.com/cogco1/ARCHFLOW_V4/pull/30</a:t>
            </a:r>
          </a:p>
          <a:p xmlns:a="http://schemas.openxmlformats.org/drawingml/2006/main">
            <a:r>
              <a:t>https://github.com/cogco1/ARCHFLOW_V4/pull/33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会议材料：https://github.com/cogco1/ARCHFLOW_V4/blob/8256eb0825d518e9bcd0b328c180146618ddcd34/docs/TEAM_MEETING_AGENDA.md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–11分钟：人、通用Agent和生成器都可以参与生成或修改。ArchFlow保留身份、依赖、来源和版本；运行时负责操作、工作进程、恢复与投影；具体工具执行或呈现结果。图中从意图到执行的箭头是职责关系，不表示任意语义请求已全部自动实现。产品界面为MonkeyArch、Board、Diagram、Fab、Monitor，Hub组合这些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会议材料：https://github.com/cogco1/ARCHFLOW_V4/blob/8256eb0825d518e9bcd0b328c180146618ddcd34/docs/TEAM_MEETING_AGENDA.md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–24分钟：每条线约三分钟。负责人在会上确定，不预设人名。Paper整理研究问题、协议与比较；Blender实现同一项目的场景投影与渲染；Interaction负责本地直接操作；Backend先让真实设计回合可观测，再减少Agent轮次。四条线以现有公共契约协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会议材料：https://github.com/cogco1/ARCHFLOW_V4/blob/8256eb0825d518e9bcd0b328c180146618ddcd34/docs/TEAM_MEETING_AGENDA.md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研究问题沿用会议材料，尚不是实验结论。A为直接/raw CAD Agent；B为当前ArchFlow多轮Agent；C为拟验证的编译上下文与事务运行时路径。固定真实任务、起始版本与provider/model，重复采样，比较模型轮次、读取/工具调用、tokens、首个可见结果、验证完成时间、歧义失败和连续修改漂移。首次交付先定术语与协议；两周交付为一张架构图、一个基准协议、第一张结果表与可证伪的文字主张。数据沿用Monitor，不在看到结果后改变基准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会议材料：https://github.com/cogco1/ARCHFLOW_V4/blob/8256eb0825d518e9bcd0b328c180146618ddcd34/docs/TEAM_MEETING_AGENDA.md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用#13已有CAD合同，做一个纵向完整演示：显式投影项目到.blend，保持语义/对象身份，映射材料与collection，建立相机和基本照明，渲染一张PNG。然后修改ArchFlow项目状态，重建或更新Blender投影，再渲染变化结果。Blender不是另一份Canonical State。优先一个可靠渲染通道；不支持的几何明确失败。资产、Geometry Nodes、动画等是这个边界未来可能承载的能力，不计入此次两周交付。</a:t>
            </a:r>
          </a:p>
          <a:p xmlns:a="http://schemas.openxmlformats.org/drawingml/2006/main">
            <a:r>
              <a:t>来源：https://github.com/cogco1/ARCHFLOW_V4/issues/13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会议材料：https://github.com/cogco1/ARCHFLOW_V4/blob/8256eb0825d518e9bcd0b328c180146618ddcd34/docs/TEAM_MEETING_AGENDA.md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既有本地预览、hover、Push/Pull、草稿、曲线和撤销已交付。本轮完善鼠标直接操作：选中/预选、激活工具、指针操作与本地预览、可选数值覆盖、点击或Enter结束为一个本地草稿动作。指针运动不发模型请求；完整草稿仍由用户显式Sync生成验证候选。先补当前工具所需的吸附保持和推断，只有测量证明必要才做大场景索引。分别量指针到预览、结束手势到本地确认、Sync到验证候选。</a:t>
            </a:r>
          </a:p>
          <a:p xmlns:a="http://schemas.openxmlformats.org/drawingml/2006/main">
            <a:r>
              <a:t>来源：https://github.com/cogco1/ARCHFLOW_V4/issues/14</a:t>
            </a:r>
          </a:p>
          <a:p xmlns:a="http://schemas.openxmlformats.org/drawingml/2006/main">
            <a:r>
              <a:t>https://github.com/cogco1/ARCHFLOW_V4/pull/28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会议材料：https://github.com/cogco1/ARCHFLOW_V4/blob/8256eb0825d518e9bcd0b328c180146618ddcd34/docs/TEAM_MEETING_AGENDA.md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优先级是#32最新Phase0：同一turn_id关联Hub、provider、Studio、candidate、CAD、verify与preview。Monitor自动显示实际测量的摘要、实时水平瀑布图、语义活动树和关键路径，识别重复读取、重试与可避免的唤醒；原始记录置于详情。时间/用量来自真实执行，不手填；价格按确切provider/model/billing配置推导，订阅CLI不可伪称按次账单；未知显示不可用或清晰标注API等价估算。第一切片不改变设计语义。之后依据同一任务的trace推进ContextPack与DesignTransaction，保留现有proposal/candidate/P036，只有真实歧义才重新唤醒Agent。图为工作顺序，未给出未经测量的秒数或收益。</a:t>
            </a:r>
          </a:p>
          <a:p xmlns:a="http://schemas.openxmlformats.org/drawingml/2006/main">
            <a:r>
              <a:t>来源：https://github.com/cogco1/ARCHFLOW_V4/issues/32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会议材料：https://github.com/cogco1/ARCHFLOW_V4/blob/8256eb0825d518e9bcd0b328c180146618ddcd34/docs/TEAM_MEETING_AGENDA.md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24–30分钟：main是共同事实；每个任务一个lane/branch/worktree/PR，先执行python tools/devctl.py work并查看目标owner/contract；不吸收他人未合入WIP，共享契约以小PR先行。每条线离会前口头确认：Track、Owner、Base main SHA、Issue/lane、首个交付物、预期文件/modules、Tests/benchmark、Blocked by。只安排Paper/Blender/Interaction/Backend四条线。Board协作、桌面完整打包、更广的runtime恢复、Diagram/Fab扩展等只作为未来方向，不自动派入本次两周任务。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会议材料：https://github.com/cogco1/ARCHFLOW_V4/blob/8256eb0825d518e9bcd0b328c180146618ddcd34/docs/TEAM_MEETING_AGENDA.md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2cf147a75c4e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105c916c264b52" /><Relationship Type="http://schemas.openxmlformats.org/officeDocument/2006/relationships/slideLayout" Target="/ppt/slideLayouts/slideLayout1.xml" Id="Rd2850446442a4f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850446442a4f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741ddab554f92" /><Relationship Type="http://schemas.openxmlformats.org/officeDocument/2006/relationships/notesSlide" Target="/ppt/notesSlides/notesSlide1.xml" Id="Rd1b65b3107f644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24c18f4564496" /><Relationship Type="http://schemas.openxmlformats.org/officeDocument/2006/relationships/notesSlide" Target="/ppt/notesSlides/notesSlide2.xml" Id="Red29e64310a649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f64a724d948b2" /><Relationship Type="http://schemas.openxmlformats.org/officeDocument/2006/relationships/notesSlide" Target="/ppt/notesSlides/notesSlide3.xml" Id="Refbb02a38ed44f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f04449f9644f1" /><Relationship Type="http://schemas.openxmlformats.org/officeDocument/2006/relationships/notesSlide" Target="/ppt/notesSlides/notesSlide4.xml" Id="Rf565937a09934b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01c64db2d4a73" /><Relationship Type="http://schemas.openxmlformats.org/officeDocument/2006/relationships/notesSlide" Target="/ppt/notesSlides/notesSlide5.xml" Id="R36547802ea0f45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a86cbc0504fd2" /><Relationship Type="http://schemas.openxmlformats.org/officeDocument/2006/relationships/notesSlide" Target="/ppt/notesSlides/notesSlide6.xml" Id="R35774c5da2134a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61f1a2eb04ebd" /><Relationship Type="http://schemas.openxmlformats.org/officeDocument/2006/relationships/notesSlide" Target="/ppt/notesSlides/notesSlide7.xml" Id="R0ae9d7b9c52140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a552c99d04830" /><Relationship Type="http://schemas.openxmlformats.org/officeDocument/2006/relationships/notesSlide" Target="/ppt/notesSlides/notesSlide8.xml" Id="R9a7e0afb94c74c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1">
            <a:extLst xmlns:a="http://schemas.openxmlformats.org/drawingml/2006/main">
              <a:ext uri="{FF2B5EF4-FFF2-40B4-BE49-F238E27FC236}">
                <a16:creationId xmlns:a16="http://schemas.microsoft.com/office/drawing/2014/main" id="{327108AF-79A0-4F27-8AA4-216A22AE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ArchFlow / Monkey 团队会议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4CF399D-8CAB-4450-A08C-AB500B16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152525"/>
            <a:ext cx="1100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两周协作：Paper / Blender / Interaction / Backend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4EBCF-592F-4152-8AA1-C6ADEEBB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61429D1-9D25-47B5-9351-A1C48A62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ArchFlow / Monkey · 团队会议 · 2026.09.14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0223D97-001A-4E83-9633-65E24DD3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D69BE80-3824-455D-B6EB-0A574DBD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51435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原型已有</a:t>
            </a:r>
          </a:p>
          <a:p xmlns:a="http://schemas.openxmlformats.org/drawingml/2006/main">
            <a:pPr algn="l">
              <a:defRPr sz="3825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产品与研究需要</a:t>
            </a:r>
          </a:p>
          <a:p xmlns:a="http://schemas.openxmlformats.org/drawingml/2006/main">
            <a:pPr algn="l">
              <a:defRPr sz="3825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共同的下一步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84EB2-56B4-485F-AC8D-44A8AABA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7EA21E19-6903-4197-A918-AC21F46B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rPr>
              <a:t>直接建模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327442C0-372B-485A-BBE2-0955586E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955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本地草稿与手动 Sync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6C5A5-B38E-42B3-B106-14E4AFC4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19475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CE380EB1-A4BE-4271-B526-08C06603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527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rPr>
              <a:t>设计反馈</a:t>
            </a:r>
          </a:p>
        </p:txBody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D3C787A8-E7BC-4EFE-A3EB-992E3EFE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白板批注与选中文字回传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27387-6390-4623-92DC-DF2EF9E7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10050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7E6D0FBD-AAEC-45EE-8BF5-A28D176B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rPr>
              <a:t>执行与恢复</a:t>
            </a:r>
          </a:p>
        </p:txBody>
      </p:sp>
      <p:sp>
        <p:nvSpPr>
          <p:cNvPr id="15" name="text-11">
            <a:extLst xmlns:a="http://schemas.openxmlformats.org/drawingml/2006/main">
              <a:ext uri="{FF2B5EF4-FFF2-40B4-BE49-F238E27FC236}">
                <a16:creationId xmlns:a16="http://schemas.microsoft.com/office/drawing/2014/main" id="{290FB3A3-7070-4EC9-BA63-D30F69C8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766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统一 CAD 接口、首个 Hub 运行时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E94A0-2EF6-4957-89FE-0319B855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00625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7" name="text-12">
            <a:extLst xmlns:a="http://schemas.openxmlformats.org/drawingml/2006/main">
              <a:ext uri="{FF2B5EF4-FFF2-40B4-BE49-F238E27FC236}">
                <a16:creationId xmlns:a16="http://schemas.microsoft.com/office/drawing/2014/main" id="{D07B6813-D88C-48EA-A55D-F54CCCA8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rPr>
              <a:t>桌面入口</a:t>
            </a:r>
          </a:p>
        </p:txBody>
      </p:sp>
      <p:sp>
        <p:nvSpPr>
          <p:cNvPr id="18" name="text-13">
            <a:extLst xmlns:a="http://schemas.openxmlformats.org/drawingml/2006/main">
              <a:ext uri="{FF2B5EF4-FFF2-40B4-BE49-F238E27FC236}">
                <a16:creationId xmlns:a16="http://schemas.microsoft.com/office/drawing/2014/main" id="{0013A410-8762-4B79-B40B-9C5CA7AC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Windows 薄宿主已合入 main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3C697F-5EF0-4120-9F46-A2655EB9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483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20" name="text-14">
            <a:extLst xmlns:a="http://schemas.openxmlformats.org/drawingml/2006/main">
              <a:ext uri="{FF2B5EF4-FFF2-40B4-BE49-F238E27FC236}">
                <a16:creationId xmlns:a16="http://schemas.microsoft.com/office/drawing/2014/main" id="{25B94F90-489A-43C1-BA87-AC84D4EA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本次会议确定：每条线的负责人、首个交付物，以及两周后的可用结果</a:t>
            </a:r>
          </a:p>
        </p:txBody>
      </p:sp>
    </p:spTree>
    <p:extLst>
      <p:ext uri="{BB962C8B-B14F-4D97-AF65-F5344CB8AC3E}">
        <p14:creationId xmlns:p14="http://schemas.microsoft.com/office/powerpoint/2010/main" val="19085827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5">
            <a:extLst xmlns:a="http://schemas.openxmlformats.org/drawingml/2006/main">
              <a:ext uri="{FF2B5EF4-FFF2-40B4-BE49-F238E27FC236}">
                <a16:creationId xmlns:a16="http://schemas.microsoft.com/office/drawing/2014/main" id="{BF5B22B4-76BE-4FFD-B4F2-446A96BE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共享架构</a:t>
            </a:r>
          </a:p>
        </p:txBody>
      </p:sp>
      <p:sp>
        <p:nvSpPr>
          <p:cNvPr id="2" name="text-16">
            <a:extLst xmlns:a="http://schemas.openxmlformats.org/drawingml/2006/main">
              <a:ext uri="{FF2B5EF4-FFF2-40B4-BE49-F238E27FC236}">
                <a16:creationId xmlns:a16="http://schemas.microsoft.com/office/drawing/2014/main" id="{644E5EF0-D714-4C6C-A621-D484CFAC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152525"/>
            <a:ext cx="1100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生成方式可以替换，项目状态持续保留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4224E-7714-4EA4-BAEF-DD201CAD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4" name="text-17">
            <a:extLst xmlns:a="http://schemas.openxmlformats.org/drawingml/2006/main">
              <a:ext uri="{FF2B5EF4-FFF2-40B4-BE49-F238E27FC236}">
                <a16:creationId xmlns:a16="http://schemas.microsoft.com/office/drawing/2014/main" id="{D10216C3-E67E-42B3-BC33-F22C4EE8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ArchFlow / Monkey · 团队会议 · 2026.09.14</a:t>
            </a:r>
          </a:p>
        </p:txBody>
      </p:sp>
      <p:sp>
        <p:nvSpPr>
          <p:cNvPr id="5" name="text-18">
            <a:extLst xmlns:a="http://schemas.openxmlformats.org/drawingml/2006/main">
              <a:ext uri="{FF2B5EF4-FFF2-40B4-BE49-F238E27FC236}">
                <a16:creationId xmlns:a16="http://schemas.microsoft.com/office/drawing/2014/main" id="{07BC1A00-4A4D-40E0-9E6E-AC39C43A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4C3C9-5F1B-47C3-AC21-53851F34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7" name="text-19">
            <a:extLst xmlns:a="http://schemas.openxmlformats.org/drawingml/2006/main">
              <a:ext uri="{FF2B5EF4-FFF2-40B4-BE49-F238E27FC236}">
                <a16:creationId xmlns:a16="http://schemas.microsoft.com/office/drawing/2014/main" id="{0FF188D0-6D88-4FFE-8DC7-2564C630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2695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人 / Agent / 生成器</a:t>
            </a:r>
          </a:p>
        </p:txBody>
      </p:sp>
      <p:sp>
        <p:nvSpPr>
          <p:cNvPr id="8" name="text-20">
            <a:extLst xmlns:a="http://schemas.openxmlformats.org/drawingml/2006/main">
              <a:ext uri="{FF2B5EF4-FFF2-40B4-BE49-F238E27FC236}">
                <a16:creationId xmlns:a16="http://schemas.microsoft.com/office/drawing/2014/main" id="{4AFBF534-4006-4AF0-9E63-515395BD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27717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提出意图或类型化动作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14B20-243D-4FE1-BB95-BCE4AC85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181225"/>
            <a:ext cx="3295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0" name="text-21">
            <a:extLst xmlns:a="http://schemas.openxmlformats.org/drawingml/2006/main">
              <a:ext uri="{FF2B5EF4-FFF2-40B4-BE49-F238E27FC236}">
                <a16:creationId xmlns:a16="http://schemas.microsoft.com/office/drawing/2014/main" id="{7D1D32D8-7471-4788-996B-7003A71E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295525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rPr>
              <a:t>ArchFlow 项目状态</a:t>
            </a:r>
          </a:p>
        </p:txBody>
      </p:sp>
      <p:sp>
        <p:nvSpPr>
          <p:cNvPr id="11" name="text-22">
            <a:extLst xmlns:a="http://schemas.openxmlformats.org/drawingml/2006/main">
              <a:ext uri="{FF2B5EF4-FFF2-40B4-BE49-F238E27FC236}">
                <a16:creationId xmlns:a16="http://schemas.microsoft.com/office/drawing/2014/main" id="{AA646FCA-9921-4848-BB7B-BC7C8D7A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647950"/>
            <a:ext cx="3067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身份 · 依赖 · 来源 · 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8EA61-DE89-491E-9334-5C3EF360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181225"/>
            <a:ext cx="37814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3" name="text-23">
            <a:extLst xmlns:a="http://schemas.openxmlformats.org/drawingml/2006/main">
              <a:ext uri="{FF2B5EF4-FFF2-40B4-BE49-F238E27FC236}">
                <a16:creationId xmlns:a16="http://schemas.microsoft.com/office/drawing/2014/main" id="{B3ABBCE6-3FA5-4B5B-9C96-F472DE9E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295525"/>
            <a:ext cx="347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Runtime</a:t>
            </a:r>
          </a:p>
        </p:txBody>
      </p:sp>
      <p:sp>
        <p:nvSpPr>
          <p:cNvPr id="14" name="text-24">
            <a:extLst xmlns:a="http://schemas.openxmlformats.org/drawingml/2006/main">
              <a:ext uri="{FF2B5EF4-FFF2-40B4-BE49-F238E27FC236}">
                <a16:creationId xmlns:a16="http://schemas.microsoft.com/office/drawing/2014/main" id="{1A36D40E-CC68-4F2E-8D58-05D8397E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47950"/>
            <a:ext cx="3552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操作 · 工作进程 · 恢复 · 投影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90925" y="2714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362825" y="2714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E9E82-6D8A-48CE-AF1E-1A79BB52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171950"/>
            <a:ext cx="75533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8" name="text-25">
            <a:extLst xmlns:a="http://schemas.openxmlformats.org/drawingml/2006/main">
              <a:ext uri="{FF2B5EF4-FFF2-40B4-BE49-F238E27FC236}">
                <a16:creationId xmlns:a16="http://schemas.microsoft.com/office/drawing/2014/main" id="{7555A41B-08E7-4FF1-BBF0-1F383AB1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286250"/>
            <a:ext cx="7248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执行与呈现</a:t>
            </a:r>
          </a:p>
        </p:txBody>
      </p:sp>
      <p:sp>
        <p:nvSpPr>
          <p:cNvPr id="19" name="text-26">
            <a:extLst xmlns:a="http://schemas.openxmlformats.org/drawingml/2006/main">
              <a:ext uri="{FF2B5EF4-FFF2-40B4-BE49-F238E27FC236}">
                <a16:creationId xmlns:a16="http://schemas.microsoft.com/office/drawing/2014/main" id="{DB74952B-71A5-47E7-83CE-780BF06F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638675"/>
            <a:ext cx="73247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OCCT / Rhino / Blender / Diagram / Fab / Viewer</a:t>
            </a:r>
          </a:p>
        </p:txBody>
      </p:sp>
      <p:cxnSp>
        <p:nvCxnSpPr>
          <p:cNvPr id="44" name=""/>
          <p:cNvCxnSpPr>
            <a:stCxn xmlns:a="http://schemas.openxmlformats.org/drawingml/2006/main" id="12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7843838" y="3248025"/>
            <a:ext cx="1885950" cy="923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21" name="text-27">
            <a:extLst xmlns:a="http://schemas.openxmlformats.org/drawingml/2006/main">
              <a:ext uri="{FF2B5EF4-FFF2-40B4-BE49-F238E27FC236}">
                <a16:creationId xmlns:a16="http://schemas.microsoft.com/office/drawing/2014/main" id="{9B748876-4B06-44FD-8381-3128EF91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24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类型化动作</a:t>
            </a:r>
          </a:p>
        </p:txBody>
      </p:sp>
      <p:sp>
        <p:nvSpPr>
          <p:cNvPr id="22" name="text-28">
            <a:extLst xmlns:a="http://schemas.openxmlformats.org/drawingml/2006/main">
              <a:ext uri="{FF2B5EF4-FFF2-40B4-BE49-F238E27FC236}">
                <a16:creationId xmlns:a16="http://schemas.microsoft.com/office/drawing/2014/main" id="{8326EEAA-030B-4902-AA69-2D55BBA0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24325"/>
            <a:ext cx="3028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项目版本持续保留</a:t>
            </a:r>
          </a:p>
          <a:p xmlns:a="http://schemas.openxmlformats.org/drawingml/2006/main">
            <a:pPr algn="l">
              <a:defRPr sz="202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候选可读回、可继续修改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86BDF6-06DA-4641-9085-6D589ACF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483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24" name="text-29">
            <a:extLst xmlns:a="http://schemas.openxmlformats.org/drawingml/2006/main">
              <a:ext uri="{FF2B5EF4-FFF2-40B4-BE49-F238E27FC236}">
                <a16:creationId xmlns:a16="http://schemas.microsoft.com/office/drawing/2014/main" id="{DE9D791F-B8F0-452D-89AD-B890D722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产品界面围绕同一项目工作；具体工具通过既有契约执行与呈现</a:t>
            </a:r>
          </a:p>
        </p:txBody>
      </p:sp>
    </p:spTree>
    <p:extLst>
      <p:ext uri="{BB962C8B-B14F-4D97-AF65-F5344CB8AC3E}">
        <p14:creationId xmlns:p14="http://schemas.microsoft.com/office/powerpoint/2010/main" val="1708608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30">
            <a:extLst xmlns:a="http://schemas.openxmlformats.org/drawingml/2006/main">
              <a:ext uri="{FF2B5EF4-FFF2-40B4-BE49-F238E27FC236}">
                <a16:creationId xmlns:a16="http://schemas.microsoft.com/office/drawing/2014/main" id="{F25ED85D-DB99-42EC-B971-C62F5389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四条工作线</a:t>
            </a:r>
          </a:p>
        </p:txBody>
      </p:sp>
      <p:sp>
        <p:nvSpPr>
          <p:cNvPr id="2" name="text-31">
            <a:extLst xmlns:a="http://schemas.openxmlformats.org/drawingml/2006/main">
              <a:ext uri="{FF2B5EF4-FFF2-40B4-BE49-F238E27FC236}">
                <a16:creationId xmlns:a16="http://schemas.microsoft.com/office/drawing/2014/main" id="{7A325B21-BF9C-4CE0-90D9-ECC83DA6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152525"/>
            <a:ext cx="1100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每条线承担一个清楚的交付，并约定与其他线的接口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71B44-9EF1-4701-9F05-C37F620C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4" name="text-32">
            <a:extLst xmlns:a="http://schemas.openxmlformats.org/drawingml/2006/main">
              <a:ext uri="{FF2B5EF4-FFF2-40B4-BE49-F238E27FC236}">
                <a16:creationId xmlns:a16="http://schemas.microsoft.com/office/drawing/2014/main" id="{8B61A167-D256-418F-A951-41804C1C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ArchFlow / Monkey · 团队会议 · 2026.09.14</a:t>
            </a:r>
          </a:p>
        </p:txBody>
      </p:sp>
      <p:sp>
        <p:nvSpPr>
          <p:cNvPr id="5" name="text-33">
            <a:extLst xmlns:a="http://schemas.openxmlformats.org/drawingml/2006/main">
              <a:ext uri="{FF2B5EF4-FFF2-40B4-BE49-F238E27FC236}">
                <a16:creationId xmlns:a16="http://schemas.microsoft.com/office/drawing/2014/main" id="{232F0F7C-BBC0-449D-8350-CBD55884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2714625"/>
                <a:gridCol w="3905250"/>
                <a:gridCol w="2619375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工作线</a:t>
                      </a:r>
                    </a:p>
                  </a:txBody>
                  <a:tcPr marL="91440" marR="91440" marT="45720" marB="45720">
                    <a:solidFill>
                      <a:srgbClr val="20232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首个交付</a:t>
                      </a:r>
                    </a:p>
                  </a:txBody>
                  <a:tcPr marL="91440" marR="91440" marT="45720" marB="45720">
                    <a:solidFill>
                      <a:srgbClr val="20232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两周可用结果</a:t>
                      </a:r>
                    </a:p>
                  </a:txBody>
                  <a:tcPr marL="91440" marR="91440" marT="45720" marB="45720">
                    <a:solidFill>
                      <a:srgbClr val="20232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协作边界</a:t>
                      </a:r>
                    </a:p>
                  </a:txBody>
                  <a:tcPr marL="91440" marR="91440" marT="45720" marB="45720">
                    <a:solidFill>
                      <a:srgbClr val="202321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0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Paper</a:t>
                      </a:r>
                    </a:p>
                  </a:txBody>
                  <a:tcPr marL="91440" marR="91440" marT="45720" marB="45720">
                    <a:solidFill>
                      <a:srgbClr val="F4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术语图与基准协议</a:t>
                      </a:r>
                    </a:p>
                  </a:txBody>
                  <a:tcPr marL="91440" marR="91440" marT="45720" marB="45720">
                    <a:solidFill>
                      <a:srgbClr val="F4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研究图、结果表与可检验主张</a:t>
                      </a:r>
                    </a:p>
                  </a:txBody>
                  <a:tcPr marL="91440" marR="91440" marT="45720" marB="45720">
                    <a:solidFill>
                      <a:srgbClr val="F4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测量与形式化</a:t>
                      </a:r>
                    </a:p>
                  </a:txBody>
                  <a:tcPr marL="91440" marR="91440" marT="45720" marB="45720">
                    <a:solidFill>
                      <a:srgbClr val="F4F3E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0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Blender</a:t>
                      </a:r>
                    </a:p>
                  </a:txBody>
                  <a:tcPr marL="91440" marR="91440" marT="45720" marB="45720">
                    <a:solidFill>
                      <a:srgbClr val="F4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 .blend 投影</a:t>
                      </a:r>
                    </a:p>
                  </a:txBody>
                  <a:tcPr marL="91440" marR="91440" marT="45720" marB="45720">
                    <a:solidFill>
                      <a:srgbClr val="F4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修改前后各渲染一张 PNG</a:t>
                      </a:r>
                    </a:p>
                  </a:txBody>
                  <a:tcPr marL="91440" marR="91440" marT="45720" marB="45720">
                    <a:solidFill>
                      <a:srgbClr val="F4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 / 场景投影</a:t>
                      </a:r>
                    </a:p>
                  </a:txBody>
                  <a:tcPr marL="91440" marR="91440" marT="45720" marB="45720">
                    <a:solidFill>
                      <a:srgbClr val="F4F3E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0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Interaction</a:t>
                      </a:r>
                    </a:p>
                  </a:txBody>
                  <a:tcPr marL="91440" marR="91440" marT="45720" marB="45720">
                    <a:solidFill>
                      <a:srgbClr val="F4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Move / Copy 指针操作</a:t>
                      </a:r>
                    </a:p>
                  </a:txBody>
                  <a:tcPr marL="91440" marR="91440" marT="45720" marB="45720">
                    <a:solidFill>
                      <a:srgbClr val="F4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连续建模数分钟的直接体验</a:t>
                      </a:r>
                    </a:p>
                  </a:txBody>
                  <a:tcPr marL="91440" marR="91440" marT="45720" marB="45720">
                    <a:solidFill>
                      <a:srgbClr val="F4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本地草稿 / 类型化动作</a:t>
                      </a:r>
                    </a:p>
                  </a:txBody>
                  <a:tcPr marL="91440" marR="91440" marT="45720" marB="45720">
                    <a:solidFill>
                      <a:srgbClr val="F4F3E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0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Backend</a:t>
                      </a:r>
                    </a:p>
                  </a:txBody>
                  <a:tcPr marL="91440" marR="91440" marT="45720" marB="45720">
                    <a:solidFill>
                      <a:srgbClr val="F4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TurnTrace + Monitor</a:t>
                      </a:r>
                    </a:p>
                  </a:txBody>
                  <a:tcPr marL="91440" marR="91440" marT="45720" marB="45720">
                    <a:solidFill>
                      <a:srgbClr val="F4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解释耗时、减少模型轮次</a:t>
                      </a:r>
                    </a:p>
                  </a:txBody>
                  <a:tcPr marL="91440" marR="91440" marT="45720" marB="45720">
                    <a:solidFill>
                      <a:srgbClr val="F4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 / 执行 / 恢复</a:t>
                      </a:r>
                    </a:p>
                  </a:txBody>
                  <a:tcPr marL="91440" marR="91440" marT="45720" marB="45720">
                    <a:solidFill>
                      <a:srgbClr val="F4F3E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407E0-4432-415F-BF92-6D36A08C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483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8" name="text-34">
            <a:extLst xmlns:a="http://schemas.openxmlformats.org/drawingml/2006/main">
              <a:ext uri="{FF2B5EF4-FFF2-40B4-BE49-F238E27FC236}">
                <a16:creationId xmlns:a16="http://schemas.microsoft.com/office/drawing/2014/main" id="{FCF455AF-B483-4E52-8BA0-EB79312C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接口需要共同修改时，先合入一个小的契约 PR，再分别推进实现</a:t>
            </a:r>
          </a:p>
        </p:txBody>
      </p:sp>
    </p:spTree>
    <p:extLst>
      <p:ext uri="{BB962C8B-B14F-4D97-AF65-F5344CB8AC3E}">
        <p14:creationId xmlns:p14="http://schemas.microsoft.com/office/powerpoint/2010/main" val="11114938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ext-35">
            <a:extLst xmlns:a="http://schemas.openxmlformats.org/drawingml/2006/main">
              <a:ext uri="{FF2B5EF4-FFF2-40B4-BE49-F238E27FC236}">
                <a16:creationId xmlns:a16="http://schemas.microsoft.com/office/drawing/2014/main" id="{81C4A9A0-B050-4761-A8D4-F30DF222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Paper · 研究问题与三路比较</a:t>
            </a:r>
          </a:p>
        </p:txBody>
      </p:sp>
      <p:sp>
        <p:nvSpPr>
          <p:cNvPr id="2" name="text-36">
            <a:extLst xmlns:a="http://schemas.openxmlformats.org/drawingml/2006/main">
              <a:ext uri="{FF2B5EF4-FFF2-40B4-BE49-F238E27FC236}">
                <a16:creationId xmlns:a16="http://schemas.microsoft.com/office/drawing/2014/main" id="{98DBD596-B26C-45E9-91C9-C5359D94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152525"/>
            <a:ext cx="1100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通用 Agent 能否把设计意图交给确定性运行时执行？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FFC71-2025-4580-BAD1-1601526C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4" name="text-37">
            <a:extLst xmlns:a="http://schemas.openxmlformats.org/drawingml/2006/main">
              <a:ext uri="{FF2B5EF4-FFF2-40B4-BE49-F238E27FC236}">
                <a16:creationId xmlns:a16="http://schemas.microsoft.com/office/drawing/2014/main" id="{78297458-5211-4D04-A8D4-897C1BA7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ArchFlow / Monkey · 团队会议 · 2026.09.14</a:t>
            </a:r>
          </a:p>
        </p:txBody>
      </p:sp>
      <p:sp>
        <p:nvSpPr>
          <p:cNvPr id="5" name="text-38">
            <a:extLst xmlns:a="http://schemas.openxmlformats.org/drawingml/2006/main">
              <a:ext uri="{FF2B5EF4-FFF2-40B4-BE49-F238E27FC236}">
                <a16:creationId xmlns:a16="http://schemas.microsoft.com/office/drawing/2014/main" id="{E203BE40-C6FD-4E14-91F0-71F62BAF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text-39">
            <a:extLst xmlns:a="http://schemas.openxmlformats.org/drawingml/2006/main">
              <a:ext uri="{FF2B5EF4-FFF2-40B4-BE49-F238E27FC236}">
                <a16:creationId xmlns:a16="http://schemas.microsoft.com/office/drawing/2014/main" id="{D3A0BABD-E93E-4529-8E71-D353A3CA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447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7" name="text-40">
            <a:extLst xmlns:a="http://schemas.openxmlformats.org/drawingml/2006/main">
              <a:ext uri="{FF2B5EF4-FFF2-40B4-BE49-F238E27FC236}">
                <a16:creationId xmlns:a16="http://schemas.microsoft.com/office/drawing/2014/main" id="{8DFC2F7D-40ED-456E-8512-6A97352F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114550"/>
            <a:ext cx="2447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直接 CAD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51D84-AF67-4641-9FC3-96A3E3F8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924050"/>
            <a:ext cx="23431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9" name="text-41">
            <a:extLst xmlns:a="http://schemas.openxmlformats.org/drawingml/2006/main">
              <a:ext uri="{FF2B5EF4-FFF2-40B4-BE49-F238E27FC236}">
                <a16:creationId xmlns:a16="http://schemas.microsoft.com/office/drawing/2014/main" id="{8C53C7CA-6C4F-46F5-B593-547F35E1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038350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发现对象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869A2-121C-45C6-8CC2-2AB9A5DE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924050"/>
            <a:ext cx="23431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1" name="text-42">
            <a:extLst xmlns:a="http://schemas.openxmlformats.org/drawingml/2006/main">
              <a:ext uri="{FF2B5EF4-FFF2-40B4-BE49-F238E27FC236}">
                <a16:creationId xmlns:a16="http://schemas.microsoft.com/office/drawing/2014/main" id="{0A8671B6-A462-4152-9299-261DC65E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38350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逐步调用 CAD</a:t>
            </a:r>
          </a:p>
        </p:txBody>
      </p:sp>
      <p:cxnSp>
        <p:nvCxnSpPr>
          <p:cNvPr id="5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124575" y="2290763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EAE0F-3343-4A49-8537-EA3D5B79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924050"/>
            <a:ext cx="23431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4" name="text-43">
            <a:extLst xmlns:a="http://schemas.openxmlformats.org/drawingml/2006/main">
              <a:ext uri="{FF2B5EF4-FFF2-40B4-BE49-F238E27FC236}">
                <a16:creationId xmlns:a16="http://schemas.microsoft.com/office/drawing/2014/main" id="{EDE03BEA-7F0D-48C1-A9E1-F3EC68DA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38350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读取结果</a:t>
            </a:r>
          </a:p>
        </p:txBody>
      </p:sp>
      <p:cxnSp>
        <p:nvCxnSpPr>
          <p:cNvPr id="53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10625" y="2290763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16" name="text-44">
            <a:extLst xmlns:a="http://schemas.openxmlformats.org/drawingml/2006/main">
              <a:ext uri="{FF2B5EF4-FFF2-40B4-BE49-F238E27FC236}">
                <a16:creationId xmlns:a16="http://schemas.microsoft.com/office/drawing/2014/main" id="{1510B45B-0A45-470D-84E3-D852B20A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447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text-45">
            <a:extLst xmlns:a="http://schemas.openxmlformats.org/drawingml/2006/main">
              <a:ext uri="{FF2B5EF4-FFF2-40B4-BE49-F238E27FC236}">
                <a16:creationId xmlns:a16="http://schemas.microsoft.com/office/drawing/2014/main" id="{4BB07865-7069-4725-B8DF-DC50B7F2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09925"/>
            <a:ext cx="2447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当前 ArchFlow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8B50A8-E550-4595-A4DF-2DD39B88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019425"/>
            <a:ext cx="23431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9" name="text-46">
            <a:extLst xmlns:a="http://schemas.openxmlformats.org/drawingml/2006/main">
              <a:ext uri="{FF2B5EF4-FFF2-40B4-BE49-F238E27FC236}">
                <a16:creationId xmlns:a16="http://schemas.microsoft.com/office/drawing/2014/main" id="{FEEAF13F-02DD-4E37-8038-6CA5AA66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1337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读取项目状态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B86240-CB73-499D-B117-103DC47E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019425"/>
            <a:ext cx="23431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21" name="text-47">
            <a:extLst xmlns:a="http://schemas.openxmlformats.org/drawingml/2006/main">
              <a:ext uri="{FF2B5EF4-FFF2-40B4-BE49-F238E27FC236}">
                <a16:creationId xmlns:a16="http://schemas.microsoft.com/office/drawing/2014/main" id="{67A32BFD-E96D-464F-B491-B4433E25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337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多轮模型 / 工具</a:t>
            </a:r>
          </a:p>
        </p:txBody>
      </p:sp>
      <p:cxnSp>
        <p:nvCxnSpPr>
          <p:cNvPr id="60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124575" y="338613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CD504B-4CD4-441C-BEAE-EA4CA799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019425"/>
            <a:ext cx="23431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24" name="text-48">
            <a:extLst xmlns:a="http://schemas.openxmlformats.org/drawingml/2006/main">
              <a:ext uri="{FF2B5EF4-FFF2-40B4-BE49-F238E27FC236}">
                <a16:creationId xmlns:a16="http://schemas.microsoft.com/office/drawing/2014/main" id="{D8F6F957-EF3C-476E-95DA-6627CE4C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1337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验证候选</a:t>
            </a:r>
          </a:p>
        </p:txBody>
      </p:sp>
      <p:cxnSp>
        <p:nvCxnSpPr>
          <p:cNvPr id="63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810625" y="338613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26" name="text-49">
            <a:extLst xmlns:a="http://schemas.openxmlformats.org/drawingml/2006/main">
              <a:ext uri="{FF2B5EF4-FFF2-40B4-BE49-F238E27FC236}">
                <a16:creationId xmlns:a16="http://schemas.microsoft.com/office/drawing/2014/main" id="{1D7DBD87-51E7-48F9-9790-4C130880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447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7" name="text-50">
            <a:extLst xmlns:a="http://schemas.openxmlformats.org/drawingml/2006/main">
              <a:ext uri="{FF2B5EF4-FFF2-40B4-BE49-F238E27FC236}">
                <a16:creationId xmlns:a16="http://schemas.microsoft.com/office/drawing/2014/main" id="{86B06EED-470E-481B-8986-45D45B45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305300"/>
            <a:ext cx="2447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拟验证路径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32FA27-69BB-41C4-999A-A0965F57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114800"/>
            <a:ext cx="23431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29" name="text-51">
            <a:extLst xmlns:a="http://schemas.openxmlformats.org/drawingml/2006/main">
              <a:ext uri="{FF2B5EF4-FFF2-40B4-BE49-F238E27FC236}">
                <a16:creationId xmlns:a16="http://schemas.microsoft.com/office/drawing/2014/main" id="{8C21E344-50F0-4D6F-8F01-F419C24A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229100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rPr>
              <a:t>编译上下文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F54CBB-0577-4D52-8CE6-F3743C6F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114800"/>
            <a:ext cx="23431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31" name="text-52">
            <a:extLst xmlns:a="http://schemas.openxmlformats.org/drawingml/2006/main">
              <a:ext uri="{FF2B5EF4-FFF2-40B4-BE49-F238E27FC236}">
                <a16:creationId xmlns:a16="http://schemas.microsoft.com/office/drawing/2014/main" id="{2ED95F19-0970-4FDC-A922-39BAC77E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29100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rPr>
              <a:t>决策 → 事务</a:t>
            </a:r>
          </a:p>
        </p:txBody>
      </p:sp>
      <p:cxnSp>
        <p:nvCxnSpPr>
          <p:cNvPr id="70" name=""/>
          <p:cNvCxnSpPr>
            <a:stCxn xmlns:a="http://schemas.openxmlformats.org/drawingml/2006/main" id="28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6124575" y="4481513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DE4282-C0AF-4CB6-9EF5-274AF070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14800"/>
            <a:ext cx="23431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34" name="text-53">
            <a:extLst xmlns:a="http://schemas.openxmlformats.org/drawingml/2006/main">
              <a:ext uri="{FF2B5EF4-FFF2-40B4-BE49-F238E27FC236}">
                <a16:creationId xmlns:a16="http://schemas.microsoft.com/office/drawing/2014/main" id="{E13FF3B0-A752-4D79-9D44-A22593DF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229100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rPr>
              <a:t>运行时 → 候选</a:t>
            </a:r>
          </a:p>
        </p:txBody>
      </p:sp>
      <p:cxnSp>
        <p:nvCxnSpPr>
          <p:cNvPr id="73" name=""/>
          <p:cNvCxnSpPr>
            <a:stCxn xmlns:a="http://schemas.openxmlformats.org/drawingml/2006/main" id="30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8810625" y="4481513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36" name="text-54">
            <a:extLst xmlns:a="http://schemas.openxmlformats.org/drawingml/2006/main">
              <a:ext uri="{FF2B5EF4-FFF2-40B4-BE49-F238E27FC236}">
                <a16:creationId xmlns:a16="http://schemas.microsoft.com/office/drawing/2014/main" id="{A4E34ACF-B5A3-42B1-A930-3D198F16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305425"/>
            <a:ext cx="7781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同一任务与起始版本 · 相同模型配置 · 重复采样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A2C75F-DCC2-4E2D-B68A-45832D31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483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38" name="text-55">
            <a:extLst xmlns:a="http://schemas.openxmlformats.org/drawingml/2006/main">
              <a:ext uri="{FF2B5EF4-FFF2-40B4-BE49-F238E27FC236}">
                <a16:creationId xmlns:a16="http://schemas.microsoft.com/office/drawing/2014/main" id="{532194D5-91D2-42D1-BC03-4EF126BF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两周交付：研究架构图 + 基准协议 + 首张结果表 + 可检验的主张</a:t>
            </a:r>
          </a:p>
        </p:txBody>
      </p:sp>
    </p:spTree>
    <p:extLst>
      <p:ext uri="{BB962C8B-B14F-4D97-AF65-F5344CB8AC3E}">
        <p14:creationId xmlns:p14="http://schemas.microsoft.com/office/powerpoint/2010/main" val="8487680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ext-56">
            <a:extLst xmlns:a="http://schemas.openxmlformats.org/drawingml/2006/main">
              <a:ext uri="{FF2B5EF4-FFF2-40B4-BE49-F238E27FC236}">
                <a16:creationId xmlns:a16="http://schemas.microsoft.com/office/drawing/2014/main" id="{A6229CAB-AA97-415B-A2B0-2534133E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Blender · 可渲染的场景投影</a:t>
            </a:r>
          </a:p>
        </p:txBody>
      </p:sp>
      <p:sp>
        <p:nvSpPr>
          <p:cNvPr id="2" name="text-57">
            <a:extLst xmlns:a="http://schemas.openxmlformats.org/drawingml/2006/main">
              <a:ext uri="{FF2B5EF4-FFF2-40B4-BE49-F238E27FC236}">
                <a16:creationId xmlns:a16="http://schemas.microsoft.com/office/drawing/2014/main" id="{D66F61BD-AB97-4038-B59A-D23211F8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152525"/>
            <a:ext cx="1100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同一个 ArchFlow 项目，输出并持续更新原生 .blend 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06562-A355-4760-B07F-E14E7678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4" name="text-58">
            <a:extLst xmlns:a="http://schemas.openxmlformats.org/drawingml/2006/main">
              <a:ext uri="{FF2B5EF4-FFF2-40B4-BE49-F238E27FC236}">
                <a16:creationId xmlns:a16="http://schemas.microsoft.com/office/drawing/2014/main" id="{451F2170-CA5D-4A8B-807F-C5A5CE16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ArchFlow / Monkey · 团队会议 · 2026.09.14</a:t>
            </a:r>
          </a:p>
        </p:txBody>
      </p:sp>
      <p:sp>
        <p:nvSpPr>
          <p:cNvPr id="5" name="text-59">
            <a:extLst xmlns:a="http://schemas.openxmlformats.org/drawingml/2006/main">
              <a:ext uri="{FF2B5EF4-FFF2-40B4-BE49-F238E27FC236}">
                <a16:creationId xmlns:a16="http://schemas.microsoft.com/office/drawing/2014/main" id="{4CC89C29-C1AC-4DF5-942B-FFAB82F0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329D3-72E7-4DA9-B43D-37EC7BB9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25241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7" name="text-60">
            <a:extLst xmlns:a="http://schemas.openxmlformats.org/drawingml/2006/main">
              <a:ext uri="{FF2B5EF4-FFF2-40B4-BE49-F238E27FC236}">
                <a16:creationId xmlns:a16="http://schemas.microsoft.com/office/drawing/2014/main" id="{2A6B4504-7613-4D17-AD15-B42E15ED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项目状态</a:t>
            </a:r>
          </a:p>
        </p:txBody>
      </p:sp>
      <p:sp>
        <p:nvSpPr>
          <p:cNvPr id="8" name="text-61">
            <a:extLst xmlns:a="http://schemas.openxmlformats.org/drawingml/2006/main">
              <a:ext uri="{FF2B5EF4-FFF2-40B4-BE49-F238E27FC236}">
                <a16:creationId xmlns:a16="http://schemas.microsoft.com/office/drawing/2014/main" id="{891DD2D2-2650-44F7-82B0-A5DACD51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2955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原始版本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902AE-552A-4145-870F-1EB3B03C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25241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0" name="text-62">
            <a:extLst xmlns:a="http://schemas.openxmlformats.org/drawingml/2006/main">
              <a:ext uri="{FF2B5EF4-FFF2-40B4-BE49-F238E27FC236}">
                <a16:creationId xmlns:a16="http://schemas.microsoft.com/office/drawing/2014/main" id="{34D1492E-77B8-45D3-88F9-DCF8B3F8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5767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修改项目状态</a:t>
            </a:r>
          </a:p>
        </p:txBody>
      </p:sp>
      <p:sp>
        <p:nvSpPr>
          <p:cNvPr id="11" name="text-63">
            <a:extLst xmlns:a="http://schemas.openxmlformats.org/drawingml/2006/main">
              <a:ext uri="{FF2B5EF4-FFF2-40B4-BE49-F238E27FC236}">
                <a16:creationId xmlns:a16="http://schemas.microsoft.com/office/drawing/2014/main" id="{A1999E99-3768-4392-990F-143425A6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22955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新的版本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A1A13-E6AD-488D-8114-43FF6D02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85975"/>
            <a:ext cx="25241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3" name="text-64">
            <a:extLst xmlns:a="http://schemas.openxmlformats.org/drawingml/2006/main">
              <a:ext uri="{FF2B5EF4-FFF2-40B4-BE49-F238E27FC236}">
                <a16:creationId xmlns:a16="http://schemas.microsoft.com/office/drawing/2014/main" id="{E74367BC-AB29-4BF3-9AAF-471FDE05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20027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.blend 投影</a:t>
            </a:r>
          </a:p>
        </p:txBody>
      </p:sp>
      <p:sp>
        <p:nvSpPr>
          <p:cNvPr id="14" name="text-65">
            <a:extLst xmlns:a="http://schemas.openxmlformats.org/drawingml/2006/main">
              <a:ext uri="{FF2B5EF4-FFF2-40B4-BE49-F238E27FC236}">
                <a16:creationId xmlns:a16="http://schemas.microsoft.com/office/drawing/2014/main" id="{368C5CEC-6C97-4D20-B08E-6665F63A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52700"/>
            <a:ext cx="22955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语义集合 / 材料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F5F5F-300F-46E9-B180-AA416B55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43375"/>
            <a:ext cx="25241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6" name="text-66">
            <a:extLst xmlns:a="http://schemas.openxmlformats.org/drawingml/2006/main">
              <a:ext uri="{FF2B5EF4-FFF2-40B4-BE49-F238E27FC236}">
                <a16:creationId xmlns:a16="http://schemas.microsoft.com/office/drawing/2014/main" id="{55F305A0-47AA-4CE5-9A47-F8E892A5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25767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更新投影</a:t>
            </a:r>
          </a:p>
        </p:txBody>
      </p:sp>
      <p:sp>
        <p:nvSpPr>
          <p:cNvPr id="17" name="text-67">
            <a:extLst xmlns:a="http://schemas.openxmlformats.org/drawingml/2006/main">
              <a:ext uri="{FF2B5EF4-FFF2-40B4-BE49-F238E27FC236}">
                <a16:creationId xmlns:a16="http://schemas.microsoft.com/office/drawing/2014/main" id="{DE970EFD-F10B-49E1-9C37-175E23E4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10100"/>
            <a:ext cx="22955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继续对应原有身份</a:t>
            </a:r>
          </a:p>
        </p:txBody>
      </p:sp>
      <p:cxnSp>
        <p:nvCxnSpPr>
          <p:cNvPr id="57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114675" y="26050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114675" y="46624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DA1A14-D54C-401C-9130-55B1CF78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85975"/>
            <a:ext cx="25241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21" name="text-68">
            <a:extLst xmlns:a="http://schemas.openxmlformats.org/drawingml/2006/main">
              <a:ext uri="{FF2B5EF4-FFF2-40B4-BE49-F238E27FC236}">
                <a16:creationId xmlns:a16="http://schemas.microsoft.com/office/drawing/2014/main" id="{A2E78CBE-DE9F-4AAD-9AAD-5A4B03CF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0027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场景准备</a:t>
            </a:r>
          </a:p>
        </p:txBody>
      </p:sp>
      <p:sp>
        <p:nvSpPr>
          <p:cNvPr id="22" name="text-69">
            <a:extLst xmlns:a="http://schemas.openxmlformats.org/drawingml/2006/main">
              <a:ext uri="{FF2B5EF4-FFF2-40B4-BE49-F238E27FC236}">
                <a16:creationId xmlns:a16="http://schemas.microsoft.com/office/drawing/2014/main" id="{10970433-F5CC-4084-8050-C7D1E202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22955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相机 / 基础照明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88A67C-AED9-4A5D-BCE5-35442DE7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43375"/>
            <a:ext cx="25241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24" name="text-70">
            <a:extLst xmlns:a="http://schemas.openxmlformats.org/drawingml/2006/main">
              <a:ext uri="{FF2B5EF4-FFF2-40B4-BE49-F238E27FC236}">
                <a16:creationId xmlns:a16="http://schemas.microsoft.com/office/drawing/2014/main" id="{43498204-831B-4820-9D23-E02D8FD6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5767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更新后的场景</a:t>
            </a:r>
          </a:p>
        </p:txBody>
      </p:sp>
      <p:sp>
        <p:nvSpPr>
          <p:cNvPr id="25" name="text-71">
            <a:extLst xmlns:a="http://schemas.openxmlformats.org/drawingml/2006/main">
              <a:ext uri="{FF2B5EF4-FFF2-40B4-BE49-F238E27FC236}">
                <a16:creationId xmlns:a16="http://schemas.microsoft.com/office/drawing/2014/main" id="{D7B82627-14AD-49B4-88EC-F7E762DA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0100"/>
            <a:ext cx="22955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沿用渲染路径</a:t>
            </a:r>
          </a:p>
        </p:txBody>
      </p:sp>
      <p:cxnSp>
        <p:nvCxnSpPr>
          <p:cNvPr id="65" name=""/>
          <p:cNvCxnSpPr>
            <a:stCxn xmlns:a="http://schemas.openxmlformats.org/drawingml/2006/main" id="12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191250" y="26050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5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191250" y="46624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86D11F-C9EC-4019-92B4-9F8F0C60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085975"/>
            <a:ext cx="18002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29" name="text-72">
            <a:extLst xmlns:a="http://schemas.openxmlformats.org/drawingml/2006/main">
              <a:ext uri="{FF2B5EF4-FFF2-40B4-BE49-F238E27FC236}">
                <a16:creationId xmlns:a16="http://schemas.microsoft.com/office/drawing/2014/main" id="{00FB0BF3-4FE6-4197-816C-CA6C0DDB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200275"/>
            <a:ext cx="1495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PNG</a:t>
            </a:r>
          </a:p>
        </p:txBody>
      </p:sp>
      <p:sp>
        <p:nvSpPr>
          <p:cNvPr id="30" name="text-73">
            <a:extLst xmlns:a="http://schemas.openxmlformats.org/drawingml/2006/main">
              <a:ext uri="{FF2B5EF4-FFF2-40B4-BE49-F238E27FC236}">
                <a16:creationId xmlns:a16="http://schemas.microsoft.com/office/drawing/2014/main" id="{23BC6AFE-DCD3-4179-BB43-E15F50E0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552700"/>
            <a:ext cx="1571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第一次渲染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E1B2A9-8002-41B8-9B2D-759B35EB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43375"/>
            <a:ext cx="18002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32" name="text-74">
            <a:extLst xmlns:a="http://schemas.openxmlformats.org/drawingml/2006/main">
              <a:ext uri="{FF2B5EF4-FFF2-40B4-BE49-F238E27FC236}">
                <a16:creationId xmlns:a16="http://schemas.microsoft.com/office/drawing/2014/main" id="{A2E7D449-64C3-4C97-89E9-EE82C360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257675"/>
            <a:ext cx="1495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PNG</a:t>
            </a:r>
          </a:p>
        </p:txBody>
      </p:sp>
      <p:sp>
        <p:nvSpPr>
          <p:cNvPr id="33" name="text-75">
            <a:extLst xmlns:a="http://schemas.openxmlformats.org/drawingml/2006/main">
              <a:ext uri="{FF2B5EF4-FFF2-40B4-BE49-F238E27FC236}">
                <a16:creationId xmlns:a16="http://schemas.microsoft.com/office/drawing/2014/main" id="{D2BE9539-8899-47B2-81C8-5C5B012B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610100"/>
            <a:ext cx="1571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变化后的结果</a:t>
            </a:r>
          </a:p>
        </p:txBody>
      </p:sp>
      <p:cxnSp>
        <p:nvCxnSpPr>
          <p:cNvPr id="73" name=""/>
          <p:cNvCxnSpPr>
            <a:stCxn xmlns:a="http://schemas.openxmlformats.org/drawingml/2006/main" id="20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267825" y="26050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3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267825" y="46624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852613" y="3124200"/>
            <a:ext cx="0" cy="101917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37" name="text-76">
            <a:extLst xmlns:a="http://schemas.openxmlformats.org/drawingml/2006/main">
              <a:ext uri="{FF2B5EF4-FFF2-40B4-BE49-F238E27FC236}">
                <a16:creationId xmlns:a16="http://schemas.microsoft.com/office/drawing/2014/main" id="{29304E53-DA5F-48A6-95E4-50BF8AE1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81375"/>
            <a:ext cx="562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rPr>
              <a:t>一个显式投影动作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7D804A-9FCE-4731-B064-525E6DAA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483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39" name="text-77">
            <a:extLst xmlns:a="http://schemas.openxmlformats.org/drawingml/2006/main">
              <a:ext uri="{FF2B5EF4-FFF2-40B4-BE49-F238E27FC236}">
                <a16:creationId xmlns:a16="http://schemas.microsoft.com/office/drawing/2014/main" id="{9B348A97-D0F2-4E01-B8AF-3F5E0458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两周交付：原生场景 + 修改前后的两张渲染图，项目身份保持对应</a:t>
            </a:r>
          </a:p>
        </p:txBody>
      </p:sp>
    </p:spTree>
    <p:extLst>
      <p:ext uri="{BB962C8B-B14F-4D97-AF65-F5344CB8AC3E}">
        <p14:creationId xmlns:p14="http://schemas.microsoft.com/office/powerpoint/2010/main" val="9934831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78">
            <a:extLst xmlns:a="http://schemas.openxmlformats.org/drawingml/2006/main">
              <a:ext uri="{FF2B5EF4-FFF2-40B4-BE49-F238E27FC236}">
                <a16:creationId xmlns:a16="http://schemas.microsoft.com/office/drawing/2014/main" id="{7DC6B5AC-48DC-4251-A1CD-B3C0F94D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Interaction · 现有工具的直接操作</a:t>
            </a:r>
          </a:p>
        </p:txBody>
      </p:sp>
      <p:sp>
        <p:nvSpPr>
          <p:cNvPr id="2" name="text-79">
            <a:extLst xmlns:a="http://schemas.openxmlformats.org/drawingml/2006/main">
              <a:ext uri="{FF2B5EF4-FFF2-40B4-BE49-F238E27FC236}">
                <a16:creationId xmlns:a16="http://schemas.microsoft.com/office/drawing/2014/main" id="{744555D4-76F7-40F1-96A1-D62DD5A0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152525"/>
            <a:ext cx="1100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先完成 Move / Copy，再推进 Rotate、Scale / 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46036-7D39-4E57-A3D2-B7CB9334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4" name="text-80">
            <a:extLst xmlns:a="http://schemas.openxmlformats.org/drawingml/2006/main">
              <a:ext uri="{FF2B5EF4-FFF2-40B4-BE49-F238E27FC236}">
                <a16:creationId xmlns:a16="http://schemas.microsoft.com/office/drawing/2014/main" id="{B95B746D-FBE6-4CDF-BA5A-312C8C37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ArchFlow / Monkey · 团队会议 · 2026.09.14</a:t>
            </a:r>
          </a:p>
        </p:txBody>
      </p:sp>
      <p:sp>
        <p:nvSpPr>
          <p:cNvPr id="5" name="text-81">
            <a:extLst xmlns:a="http://schemas.openxmlformats.org/drawingml/2006/main">
              <a:ext uri="{FF2B5EF4-FFF2-40B4-BE49-F238E27FC236}">
                <a16:creationId xmlns:a16="http://schemas.microsoft.com/office/drawing/2014/main" id="{E2509444-20A2-425A-92EA-21F18A72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BDE4F-444E-40BC-A992-1589A5CE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19325"/>
            <a:ext cx="25050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7" name="text-82">
            <a:extLst xmlns:a="http://schemas.openxmlformats.org/drawingml/2006/main">
              <a:ext uri="{FF2B5EF4-FFF2-40B4-BE49-F238E27FC236}">
                <a16:creationId xmlns:a16="http://schemas.microsoft.com/office/drawing/2014/main" id="{33C42D2F-5CC5-4EEE-B8A3-2C0DBDEE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2200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选择 / 预选</a:t>
            </a:r>
          </a:p>
        </p:txBody>
      </p:sp>
      <p:sp>
        <p:nvSpPr>
          <p:cNvPr id="8" name="text-83">
            <a:extLst xmlns:a="http://schemas.openxmlformats.org/drawingml/2006/main">
              <a:ext uri="{FF2B5EF4-FFF2-40B4-BE49-F238E27FC236}">
                <a16:creationId xmlns:a16="http://schemas.microsoft.com/office/drawing/2014/main" id="{23C8606E-CC8C-4989-AC1F-AF47954F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2276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确定操作对象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F7625-0A6B-4ACF-AD78-B2406372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219325"/>
            <a:ext cx="25050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0" name="text-84">
            <a:extLst xmlns:a="http://schemas.openxmlformats.org/drawingml/2006/main">
              <a:ext uri="{FF2B5EF4-FFF2-40B4-BE49-F238E27FC236}">
                <a16:creationId xmlns:a16="http://schemas.microsoft.com/office/drawing/2014/main" id="{7C060943-246C-4D78-A78D-9AA8F676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33625"/>
            <a:ext cx="2200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指针操作</a:t>
            </a:r>
          </a:p>
        </p:txBody>
      </p:sp>
      <p:sp>
        <p:nvSpPr>
          <p:cNvPr id="11" name="text-85">
            <a:extLst xmlns:a="http://schemas.openxmlformats.org/drawingml/2006/main">
              <a:ext uri="{FF2B5EF4-FFF2-40B4-BE49-F238E27FC236}">
                <a16:creationId xmlns:a16="http://schemas.microsoft.com/office/drawing/2014/main" id="{8E526189-5169-48BF-80A3-B6C845BE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86050"/>
            <a:ext cx="2276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本地即时预览</a:t>
            </a:r>
          </a:p>
        </p:txBody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95625" y="27813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AE61F-86ED-4559-A46A-A548C73D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25050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4" name="text-86">
            <a:extLst xmlns:a="http://schemas.openxmlformats.org/drawingml/2006/main">
              <a:ext uri="{FF2B5EF4-FFF2-40B4-BE49-F238E27FC236}">
                <a16:creationId xmlns:a16="http://schemas.microsoft.com/office/drawing/2014/main" id="{E6FC885C-C3BA-45A2-A662-D096A9F9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33625"/>
            <a:ext cx="2200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点击 / Enter</a:t>
            </a:r>
          </a:p>
        </p:txBody>
      </p:sp>
      <p:sp>
        <p:nvSpPr>
          <p:cNvPr id="15" name="text-87">
            <a:extLst xmlns:a="http://schemas.openxmlformats.org/drawingml/2006/main">
              <a:ext uri="{FF2B5EF4-FFF2-40B4-BE49-F238E27FC236}">
                <a16:creationId xmlns:a16="http://schemas.microsoft.com/office/drawing/2014/main" id="{E4AB6D34-F1AC-4718-B752-9AC5A35D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86050"/>
            <a:ext cx="2276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一个草稿动作</a:t>
            </a:r>
          </a:p>
        </p:txBody>
      </p: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43600" y="27813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0BB2E-8992-4326-8A2C-EF8C9463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219325"/>
            <a:ext cx="25050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8" name="text-88">
            <a:extLst xmlns:a="http://schemas.openxmlformats.org/drawingml/2006/main">
              <a:ext uri="{FF2B5EF4-FFF2-40B4-BE49-F238E27FC236}">
                <a16:creationId xmlns:a16="http://schemas.microsoft.com/office/drawing/2014/main" id="{ECFE3274-B605-4791-B655-CB3A2635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33625"/>
            <a:ext cx="2200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rPr>
              <a:t>手动 Sync</a:t>
            </a:r>
          </a:p>
        </p:txBody>
      </p:sp>
      <p:sp>
        <p:nvSpPr>
          <p:cNvPr id="19" name="text-89">
            <a:extLst xmlns:a="http://schemas.openxmlformats.org/drawingml/2006/main">
              <a:ext uri="{FF2B5EF4-FFF2-40B4-BE49-F238E27FC236}">
                <a16:creationId xmlns:a16="http://schemas.microsoft.com/office/drawing/2014/main" id="{7A430C47-F5C2-4A98-8EB7-279AC921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686050"/>
            <a:ext cx="2276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一个验证候选</a:t>
            </a:r>
          </a:p>
        </p:txBody>
      </p:sp>
      <p:cxnSp>
        <p:nvCxnSpPr>
          <p:cNvPr id="46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791575" y="27813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385B5-BFA6-4ED5-BDA6-0E4DB2CC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8201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E705E"/>
            </a:solidFill>
          </a:ln>
        </p:spPr>
      </p:sp>
      <p:sp>
        <p:nvSpPr>
          <p:cNvPr id="22" name="text-90">
            <a:extLst xmlns:a="http://schemas.openxmlformats.org/drawingml/2006/main">
              <a:ext uri="{FF2B5EF4-FFF2-40B4-BE49-F238E27FC236}">
                <a16:creationId xmlns:a16="http://schemas.microsoft.com/office/drawing/2014/main" id="{5408A04F-D718-46A5-B2C2-84C5E651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E70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4E705E"/>
                </a:solidFill>
                <a:latin typeface="Microsoft YaHei"/>
                <a:ea typeface="Microsoft YaHei"/>
                <a:cs typeface="Microsoft YaHei"/>
              </a:rPr>
              <a:t>本地操作：指针移动时不调用模型</a:t>
            </a:r>
          </a:p>
        </p:txBody>
      </p:sp>
      <p:sp>
        <p:nvSpPr>
          <p:cNvPr id="23" name="text-91">
            <a:extLst xmlns:a="http://schemas.openxmlformats.org/drawingml/2006/main">
              <a:ext uri="{FF2B5EF4-FFF2-40B4-BE49-F238E27FC236}">
                <a16:creationId xmlns:a16="http://schemas.microsoft.com/office/drawing/2014/main" id="{B739D82A-8F0F-4CA5-8615-4975D603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962400"/>
            <a:ext cx="2486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rPr>
              <a:t>按需执行与保存</a:t>
            </a:r>
          </a:p>
        </p:txBody>
      </p:sp>
      <p:sp>
        <p:nvSpPr>
          <p:cNvPr id="24" name="text-92">
            <a:extLst xmlns:a="http://schemas.openxmlformats.org/drawingml/2006/main">
              <a:ext uri="{FF2B5EF4-FFF2-40B4-BE49-F238E27FC236}">
                <a16:creationId xmlns:a16="http://schemas.microsoft.com/office/drawing/2014/main" id="{AB2DC67B-30FE-4190-8543-0B7EF172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81550"/>
            <a:ext cx="11029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先补当前工具需要的吸附保持与推断，再按实际测量决定索引优化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FE16F6-8AFB-497E-AF40-2C9AF1E0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483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26" name="text-93">
            <a:extLst xmlns:a="http://schemas.openxmlformats.org/drawingml/2006/main">
              <a:ext uri="{FF2B5EF4-FFF2-40B4-BE49-F238E27FC236}">
                <a16:creationId xmlns:a16="http://schemas.microsoft.com/office/drawing/2014/main" id="{FD63B148-322E-4173-B518-AA74EDBB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两周交付：连续创建、移动和塑造一个简单体量模型，直接操作保持流畅</a:t>
            </a:r>
          </a:p>
        </p:txBody>
      </p:sp>
    </p:spTree>
    <p:extLst>
      <p:ext uri="{BB962C8B-B14F-4D97-AF65-F5344CB8AC3E}">
        <p14:creationId xmlns:p14="http://schemas.microsoft.com/office/powerpoint/2010/main" val="11843083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-94">
            <a:extLst xmlns:a="http://schemas.openxmlformats.org/drawingml/2006/main">
              <a:ext uri="{FF2B5EF4-FFF2-40B4-BE49-F238E27FC236}">
                <a16:creationId xmlns:a16="http://schemas.microsoft.com/office/drawing/2014/main" id="{50FDC256-D9F9-43D2-842A-8FDE3FF1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Backend · 先解释耗时，再减少轮次</a:t>
            </a:r>
          </a:p>
        </p:txBody>
      </p:sp>
      <p:sp>
        <p:nvSpPr>
          <p:cNvPr id="2" name="text-95">
            <a:extLst xmlns:a="http://schemas.openxmlformats.org/drawingml/2006/main">
              <a:ext uri="{FF2B5EF4-FFF2-40B4-BE49-F238E27FC236}">
                <a16:creationId xmlns:a16="http://schemas.microsoft.com/office/drawing/2014/main" id="{F8EE8558-1DA6-42CA-9105-38D5D5B7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152525"/>
            <a:ext cx="1100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TurnTrace / MonkeyMonitor → ContextPack → DesignTransaction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6AA4E-04C4-48D3-A343-EEEA9BEA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4" name="text-96">
            <a:extLst xmlns:a="http://schemas.openxmlformats.org/drawingml/2006/main">
              <a:ext uri="{FF2B5EF4-FFF2-40B4-BE49-F238E27FC236}">
                <a16:creationId xmlns:a16="http://schemas.microsoft.com/office/drawing/2014/main" id="{39234932-FE4F-43ED-AE5B-2779589B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ArchFlow / Monkey · 团队会议 · 2026.09.14</a:t>
            </a:r>
          </a:p>
        </p:txBody>
      </p:sp>
      <p:sp>
        <p:nvSpPr>
          <p:cNvPr id="5" name="text-97">
            <a:extLst xmlns:a="http://schemas.openxmlformats.org/drawingml/2006/main">
              <a:ext uri="{FF2B5EF4-FFF2-40B4-BE49-F238E27FC236}">
                <a16:creationId xmlns:a16="http://schemas.microsoft.com/office/drawing/2014/main" id="{DB3CFDDF-131E-4994-90CB-A2AF1C9B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text-98">
            <a:extLst xmlns:a="http://schemas.openxmlformats.org/drawingml/2006/main">
              <a:ext uri="{FF2B5EF4-FFF2-40B4-BE49-F238E27FC236}">
                <a16:creationId xmlns:a16="http://schemas.microsoft.com/office/drawing/2014/main" id="{5DA2F857-EE9E-45EE-949F-82244309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1102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rPr>
              <a:t>第一步：自动记录一整轮设计任务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7446A-09E8-4C5A-A630-943DBCE2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81275"/>
            <a:ext cx="161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8" name="text-99">
            <a:extLst xmlns:a="http://schemas.openxmlformats.org/drawingml/2006/main">
              <a:ext uri="{FF2B5EF4-FFF2-40B4-BE49-F238E27FC236}">
                <a16:creationId xmlns:a16="http://schemas.microsoft.com/office/drawing/2014/main" id="{6DD9513E-995F-4938-9E3F-66BE5B53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76C83-AE7D-4D13-B9AF-8C3A65C3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81275"/>
            <a:ext cx="161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0" name="text-100">
            <a:extLst xmlns:a="http://schemas.openxmlformats.org/drawingml/2006/main">
              <a:ext uri="{FF2B5EF4-FFF2-40B4-BE49-F238E27FC236}">
                <a16:creationId xmlns:a16="http://schemas.microsoft.com/office/drawing/2014/main" id="{E8230C05-7472-4124-91E5-6CDE0D35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9557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Hub</a:t>
            </a:r>
          </a:p>
        </p:txBody>
      </p:sp>
      <p:cxnSp>
        <p:nvCxnSpPr>
          <p:cNvPr id="5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209800" y="28908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714FB-8C2D-4E30-B6FD-4E9661AE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81275"/>
            <a:ext cx="161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3" name="text-101">
            <a:extLst xmlns:a="http://schemas.openxmlformats.org/drawingml/2006/main">
              <a:ext uri="{FF2B5EF4-FFF2-40B4-BE49-F238E27FC236}">
                <a16:creationId xmlns:a16="http://schemas.microsoft.com/office/drawing/2014/main" id="{CCEF90B7-E587-4815-B972-FD760354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9557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Studio</a:t>
            </a:r>
          </a:p>
        </p:txBody>
      </p:sp>
      <p:cxnSp>
        <p:nvCxnSpPr>
          <p:cNvPr id="55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95750" y="28908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A9F4D0-206B-42FE-B71E-A99D5DB9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81275"/>
            <a:ext cx="161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6" name="text-102">
            <a:extLst xmlns:a="http://schemas.openxmlformats.org/drawingml/2006/main">
              <a:ext uri="{FF2B5EF4-FFF2-40B4-BE49-F238E27FC236}">
                <a16:creationId xmlns:a16="http://schemas.microsoft.com/office/drawing/2014/main" id="{6DE4D671-5D2D-44ED-90D1-81C36517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CAD</a:t>
            </a:r>
          </a:p>
        </p:txBody>
      </p:sp>
      <p:cxnSp>
        <p:nvCxnSpPr>
          <p:cNvPr id="58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981700" y="28908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590596-8601-4202-BCD2-22BC165D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81275"/>
            <a:ext cx="161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9" name="text-103">
            <a:extLst xmlns:a="http://schemas.openxmlformats.org/drawingml/2006/main">
              <a:ext uri="{FF2B5EF4-FFF2-40B4-BE49-F238E27FC236}">
                <a16:creationId xmlns:a16="http://schemas.microsoft.com/office/drawing/2014/main" id="{FB5C892F-7F40-4768-88CE-7EB6F3D2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9557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cxnSp>
        <p:nvCxnSpPr>
          <p:cNvPr id="61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867650" y="28908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102A53-10EF-4512-A1B5-ED3E4DF4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161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22" name="text-104">
            <a:extLst xmlns:a="http://schemas.openxmlformats.org/drawingml/2006/main">
              <a:ext uri="{FF2B5EF4-FFF2-40B4-BE49-F238E27FC236}">
                <a16:creationId xmlns:a16="http://schemas.microsoft.com/office/drawing/2014/main" id="{6BF92E1B-7156-49D3-A016-AB46AF5D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9557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预览</a:t>
            </a:r>
          </a:p>
        </p:txBody>
      </p:sp>
      <p:cxnSp>
        <p:nvCxnSpPr>
          <p:cNvPr id="64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753600" y="28908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24" name="text-105">
            <a:extLst xmlns:a="http://schemas.openxmlformats.org/drawingml/2006/main">
              <a:ext uri="{FF2B5EF4-FFF2-40B4-BE49-F238E27FC236}">
                <a16:creationId xmlns:a16="http://schemas.microsoft.com/office/drawing/2014/main" id="{1E74E584-0E15-4EF3-B80F-40A1A4D7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Monitor：水平瀑布图 · 语义活动树 · 关键路径 · 真实用量与费用口径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1ED000-1163-4C2E-9CFF-3A5DEACA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26" name="text-106">
            <a:extLst xmlns:a="http://schemas.openxmlformats.org/drawingml/2006/main">
              <a:ext uri="{FF2B5EF4-FFF2-40B4-BE49-F238E27FC236}">
                <a16:creationId xmlns:a16="http://schemas.microsoft.com/office/drawing/2014/main" id="{C06F0F15-3F8B-4258-8ADC-87F68EB5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1102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第二步：用同一任务验证轮次减少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13A541-000E-4DF2-ACD5-283EBA77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25050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28" name="text-107">
            <a:extLst xmlns:a="http://schemas.openxmlformats.org/drawingml/2006/main">
              <a:ext uri="{FF2B5EF4-FFF2-40B4-BE49-F238E27FC236}">
                <a16:creationId xmlns:a16="http://schemas.microsoft.com/office/drawing/2014/main" id="{DB9CE9AF-5CD2-445D-BDC3-8623A533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62525"/>
            <a:ext cx="2200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ContextPack</a:t>
            </a:r>
          </a:p>
        </p:txBody>
      </p:sp>
      <p:sp>
        <p:nvSpPr>
          <p:cNvPr id="29" name="text-108">
            <a:extLst xmlns:a="http://schemas.openxmlformats.org/drawingml/2006/main">
              <a:ext uri="{FF2B5EF4-FFF2-40B4-BE49-F238E27FC236}">
                <a16:creationId xmlns:a16="http://schemas.microsoft.com/office/drawing/2014/main" id="{F2582C5D-5854-4941-800A-E567CAF0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2276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编译决策上下文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23F4E1-E607-40F9-8A48-5B3A3A3E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848225"/>
            <a:ext cx="25050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31" name="text-109">
            <a:extLst xmlns:a="http://schemas.openxmlformats.org/drawingml/2006/main">
              <a:ext uri="{FF2B5EF4-FFF2-40B4-BE49-F238E27FC236}">
                <a16:creationId xmlns:a16="http://schemas.microsoft.com/office/drawing/2014/main" id="{F487C725-F3FB-4838-99A5-BC06AD20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962525"/>
            <a:ext cx="2200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Agent 决策</a:t>
            </a:r>
          </a:p>
        </p:txBody>
      </p:sp>
      <p:sp>
        <p:nvSpPr>
          <p:cNvPr id="32" name="text-110">
            <a:extLst xmlns:a="http://schemas.openxmlformats.org/drawingml/2006/main">
              <a:ext uri="{FF2B5EF4-FFF2-40B4-BE49-F238E27FC236}">
                <a16:creationId xmlns:a16="http://schemas.microsoft.com/office/drawing/2014/main" id="{E384512C-665C-4606-B8D8-C1D928BD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314950"/>
            <a:ext cx="2276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输出设计事务</a:t>
            </a:r>
          </a:p>
        </p:txBody>
      </p:sp>
      <p:cxnSp>
        <p:nvCxnSpPr>
          <p:cNvPr id="74" name=""/>
          <p:cNvCxnSpPr>
            <a:stCxn xmlns:a="http://schemas.openxmlformats.org/drawingml/2006/main" id="27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3095625" y="52673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08A5FD-5DD7-4A35-8122-BAF142B5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48225"/>
            <a:ext cx="25050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35" name="text-111">
            <a:extLst xmlns:a="http://schemas.openxmlformats.org/drawingml/2006/main">
              <a:ext uri="{FF2B5EF4-FFF2-40B4-BE49-F238E27FC236}">
                <a16:creationId xmlns:a16="http://schemas.microsoft.com/office/drawing/2014/main" id="{838A565C-E6E7-4F33-AB62-B4FCBD77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62525"/>
            <a:ext cx="2200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Runtime</a:t>
            </a:r>
          </a:p>
        </p:txBody>
      </p:sp>
      <p:sp>
        <p:nvSpPr>
          <p:cNvPr id="36" name="text-112">
            <a:extLst xmlns:a="http://schemas.openxmlformats.org/drawingml/2006/main">
              <a:ext uri="{FF2B5EF4-FFF2-40B4-BE49-F238E27FC236}">
                <a16:creationId xmlns:a16="http://schemas.microsoft.com/office/drawing/2014/main" id="{72184D69-01F6-44C4-86E9-4B0BD6DF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14950"/>
            <a:ext cx="2276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确定性执行并读回</a:t>
            </a:r>
          </a:p>
        </p:txBody>
      </p:sp>
      <p:cxnSp>
        <p:nvCxnSpPr>
          <p:cNvPr id="78" name=""/>
          <p:cNvCxnSpPr>
            <a:stCxn xmlns:a="http://schemas.openxmlformats.org/drawingml/2006/main" id="30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5943600" y="52673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B72E3A-90F7-4E8F-AE34-7BA107F5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848225"/>
            <a:ext cx="25050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39" name="text-113">
            <a:extLst xmlns:a="http://schemas.openxmlformats.org/drawingml/2006/main">
              <a:ext uri="{FF2B5EF4-FFF2-40B4-BE49-F238E27FC236}">
                <a16:creationId xmlns:a16="http://schemas.microsoft.com/office/drawing/2014/main" id="{E08C452E-5C1F-4D15-8AED-42F980E2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962525"/>
            <a:ext cx="2200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候选</a:t>
            </a:r>
          </a:p>
        </p:txBody>
      </p:sp>
      <p:sp>
        <p:nvSpPr>
          <p:cNvPr id="40" name="text-114">
            <a:extLst xmlns:a="http://schemas.openxmlformats.org/drawingml/2006/main">
              <a:ext uri="{FF2B5EF4-FFF2-40B4-BE49-F238E27FC236}">
                <a16:creationId xmlns:a16="http://schemas.microsoft.com/office/drawing/2014/main" id="{DD317070-D22B-4B20-A8E7-5421C31E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314950"/>
            <a:ext cx="2276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歧义时再请求判断</a:t>
            </a:r>
          </a:p>
        </p:txBody>
      </p:sp>
      <p:cxnSp>
        <p:nvCxnSpPr>
          <p:cNvPr id="82" name=""/>
          <p:cNvCxnSpPr>
            <a:stCxn xmlns:a="http://schemas.openxmlformats.org/drawingml/2006/main" id="34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791575" y="52673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207349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15">
            <a:extLst xmlns:a="http://schemas.openxmlformats.org/drawingml/2006/main">
              <a:ext uri="{FF2B5EF4-FFF2-40B4-BE49-F238E27FC236}">
                <a16:creationId xmlns:a16="http://schemas.microsoft.com/office/drawing/2014/main" id="{9D847629-AEEB-4037-9F45-E3370772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协作方式与当场分工</a:t>
            </a:r>
          </a:p>
        </p:txBody>
      </p:sp>
      <p:sp>
        <p:nvSpPr>
          <p:cNvPr id="2" name="text-116">
            <a:extLst xmlns:a="http://schemas.openxmlformats.org/drawingml/2006/main">
              <a:ext uri="{FF2B5EF4-FFF2-40B4-BE49-F238E27FC236}">
                <a16:creationId xmlns:a16="http://schemas.microsoft.com/office/drawing/2014/main" id="{625A4291-691A-453C-8126-EC063695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152525"/>
            <a:ext cx="1100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先看谁在改什么，再开自己的 lane；共享接口先合，业务实现后分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12740-E079-4353-8A7B-79C50C06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4" name="text-117">
            <a:extLst xmlns:a="http://schemas.openxmlformats.org/drawingml/2006/main">
              <a:ext uri="{FF2B5EF4-FFF2-40B4-BE49-F238E27FC236}">
                <a16:creationId xmlns:a16="http://schemas.microsoft.com/office/drawing/2014/main" id="{D529B805-22A1-4951-BC60-86524D4E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ArchFlow / Monkey · 团队会议 · 2026.09.14</a:t>
            </a:r>
          </a:p>
        </p:txBody>
      </p:sp>
      <p:sp>
        <p:nvSpPr>
          <p:cNvPr id="5" name="text-118">
            <a:extLst xmlns:a="http://schemas.openxmlformats.org/drawingml/2006/main">
              <a:ext uri="{FF2B5EF4-FFF2-40B4-BE49-F238E27FC236}">
                <a16:creationId xmlns:a16="http://schemas.microsoft.com/office/drawing/2014/main" id="{9287CC04-2421-42ED-8A19-1131F9E3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6AE18-5043-49F7-BAE7-D69DED4C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9775"/>
            <a:ext cx="250507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7" name="text-119">
            <a:extLst xmlns:a="http://schemas.openxmlformats.org/drawingml/2006/main">
              <a:ext uri="{FF2B5EF4-FFF2-40B4-BE49-F238E27FC236}">
                <a16:creationId xmlns:a16="http://schemas.microsoft.com/office/drawing/2014/main" id="{954F53B0-231F-44D2-B6CA-8855E423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24075"/>
            <a:ext cx="2200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查看现有任务</a:t>
            </a:r>
          </a:p>
        </p:txBody>
      </p:sp>
      <p:sp>
        <p:nvSpPr>
          <p:cNvPr id="8" name="text-120">
            <a:extLst xmlns:a="http://schemas.openxmlformats.org/drawingml/2006/main">
              <a:ext uri="{FF2B5EF4-FFF2-40B4-BE49-F238E27FC236}">
                <a16:creationId xmlns:a16="http://schemas.microsoft.com/office/drawing/2014/main" id="{89B92A76-2E55-43B1-9823-B0ED81C0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227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owner /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F582B-C5AE-439F-94F5-279E0C70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09775"/>
            <a:ext cx="250507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0" name="text-121">
            <a:extLst xmlns:a="http://schemas.openxmlformats.org/drawingml/2006/main">
              <a:ext uri="{FF2B5EF4-FFF2-40B4-BE49-F238E27FC236}">
                <a16:creationId xmlns:a16="http://schemas.microsoft.com/office/drawing/2014/main" id="{3EA8BEF5-896E-4408-A23B-6D8394D3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24075"/>
            <a:ext cx="2200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独立 lane</a:t>
            </a:r>
          </a:p>
        </p:txBody>
      </p:sp>
      <p:sp>
        <p:nvSpPr>
          <p:cNvPr id="11" name="text-122">
            <a:extLst xmlns:a="http://schemas.openxmlformats.org/drawingml/2006/main">
              <a:ext uri="{FF2B5EF4-FFF2-40B4-BE49-F238E27FC236}">
                <a16:creationId xmlns:a16="http://schemas.microsoft.com/office/drawing/2014/main" id="{816E979B-1A1D-403F-90B3-5A7C0657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76500"/>
            <a:ext cx="227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branch / worktree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95625" y="249078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43082-69D4-4097-AD6F-14102C5F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250507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4" name="text-123">
            <a:extLst xmlns:a="http://schemas.openxmlformats.org/drawingml/2006/main">
              <a:ext uri="{FF2B5EF4-FFF2-40B4-BE49-F238E27FC236}">
                <a16:creationId xmlns:a16="http://schemas.microsoft.com/office/drawing/2014/main" id="{AEC46D24-F4C5-4456-A5AB-E0195C11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2200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一个小 PR</a:t>
            </a:r>
          </a:p>
        </p:txBody>
      </p:sp>
      <p:sp>
        <p:nvSpPr>
          <p:cNvPr id="15" name="text-124">
            <a:extLst xmlns:a="http://schemas.openxmlformats.org/drawingml/2006/main">
              <a:ext uri="{FF2B5EF4-FFF2-40B4-BE49-F238E27FC236}">
                <a16:creationId xmlns:a16="http://schemas.microsoft.com/office/drawing/2014/main" id="{FD2DF754-11DD-4347-A5E8-015458D0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27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明确测试与接口</a:t>
            </a:r>
          </a:p>
        </p:txBody>
      </p: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43600" y="249078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292EE-F3A7-4AB2-A006-5D6E9104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09775"/>
            <a:ext cx="250507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11430">
            <a:solidFill>
              <a:srgbClr val="C7CBC4"/>
            </a:solidFill>
          </a:ln>
        </p:spPr>
      </p:sp>
      <p:sp>
        <p:nvSpPr>
          <p:cNvPr id="18" name="text-125">
            <a:extLst xmlns:a="http://schemas.openxmlformats.org/drawingml/2006/main">
              <a:ext uri="{FF2B5EF4-FFF2-40B4-BE49-F238E27FC236}">
                <a16:creationId xmlns:a16="http://schemas.microsoft.com/office/drawing/2014/main" id="{83E70CAC-A7F5-4D3D-8189-C81C788C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24075"/>
            <a:ext cx="2200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合入 main</a:t>
            </a:r>
          </a:p>
        </p:txBody>
      </p:sp>
      <p:sp>
        <p:nvSpPr>
          <p:cNvPr id="19" name="text-126">
            <a:extLst xmlns:a="http://schemas.openxmlformats.org/drawingml/2006/main">
              <a:ext uri="{FF2B5EF4-FFF2-40B4-BE49-F238E27FC236}">
                <a16:creationId xmlns:a16="http://schemas.microsoft.com/office/drawing/2014/main" id="{CD99CC08-9F6A-426E-8436-DB485C80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476500"/>
            <a:ext cx="227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共同的集成事实</a:t>
            </a:r>
          </a:p>
        </p:txBody>
      </p:sp>
      <p:cxnSp>
        <p:nvCxnSpPr>
          <p:cNvPr id="48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791575" y="249078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6B66"/>
            </a:solidFill>
            <a:tailEnd type="triangle" w="sm" len="sm"/>
          </a:ln>
        </p:spPr>
      </p:cxnSp>
      <p:sp>
        <p:nvSpPr>
          <p:cNvPr id="21" name="text-127">
            <a:extLst xmlns:a="http://schemas.openxmlformats.org/drawingml/2006/main">
              <a:ext uri="{FF2B5EF4-FFF2-40B4-BE49-F238E27FC236}">
                <a16:creationId xmlns:a16="http://schemas.microsoft.com/office/drawing/2014/main" id="{91CFEA18-B343-4486-A20B-824BEED5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11029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B74736"/>
                </a:solidFill>
                <a:latin typeface="Microsoft YaHei"/>
                <a:ea typeface="Microsoft YaHei"/>
                <a:cs typeface="Microsoft YaHei"/>
              </a:rPr>
              <a:t>每条线离会前确定</a:t>
            </a:r>
          </a:p>
        </p:txBody>
      </p:sp>
      <p:sp>
        <p:nvSpPr>
          <p:cNvPr id="22" name="text-128">
            <a:extLst xmlns:a="http://schemas.openxmlformats.org/drawingml/2006/main">
              <a:ext uri="{FF2B5EF4-FFF2-40B4-BE49-F238E27FC236}">
                <a16:creationId xmlns:a16="http://schemas.microsoft.com/office/drawing/2014/main" id="{A40B4047-FCDF-491C-A0ED-9CD448DB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24325"/>
            <a:ext cx="2219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谁负责</a:t>
            </a:r>
          </a:p>
        </p:txBody>
      </p:sp>
      <p:sp>
        <p:nvSpPr>
          <p:cNvPr id="23" name="text-129">
            <a:extLst xmlns:a="http://schemas.openxmlformats.org/drawingml/2006/main">
              <a:ext uri="{FF2B5EF4-FFF2-40B4-BE49-F238E27FC236}">
                <a16:creationId xmlns:a16="http://schemas.microsoft.com/office/drawing/2014/main" id="{D95D0A4F-0E6F-4969-BCD9-EF6F3128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24325"/>
            <a:ext cx="8496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负责人 + 对应 issue / lane</a:t>
            </a:r>
          </a:p>
        </p:txBody>
      </p:sp>
      <p:sp>
        <p:nvSpPr>
          <p:cNvPr id="24" name="text-130">
            <a:extLst xmlns:a="http://schemas.openxmlformats.org/drawingml/2006/main">
              <a:ext uri="{FF2B5EF4-FFF2-40B4-BE49-F238E27FC236}">
                <a16:creationId xmlns:a16="http://schemas.microsoft.com/office/drawing/2014/main" id="{6383CBAA-191B-4394-BB1F-D25C26FA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2219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先交付什么</a:t>
            </a:r>
          </a:p>
        </p:txBody>
      </p:sp>
      <p:sp>
        <p:nvSpPr>
          <p:cNvPr id="25" name="text-131">
            <a:extLst xmlns:a="http://schemas.openxmlformats.org/drawingml/2006/main">
              <a:ext uri="{FF2B5EF4-FFF2-40B4-BE49-F238E27FC236}">
                <a16:creationId xmlns:a16="http://schemas.microsoft.com/office/drawing/2014/main" id="{D7B420F8-46FD-4B22-AF79-38E4D80B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667250"/>
            <a:ext cx="8496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首个 PR / 研究产物 + 文件边界</a:t>
            </a:r>
          </a:p>
        </p:txBody>
      </p:sp>
      <p:sp>
        <p:nvSpPr>
          <p:cNvPr id="26" name="text-132">
            <a:extLst xmlns:a="http://schemas.openxmlformats.org/drawingml/2006/main">
              <a:ext uri="{FF2B5EF4-FFF2-40B4-BE49-F238E27FC236}">
                <a16:creationId xmlns:a16="http://schemas.microsoft.com/office/drawing/2014/main" id="{8AB028FF-B31A-4812-A007-68268D5C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2219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如何判断完成</a:t>
            </a:r>
          </a:p>
        </p:txBody>
      </p:sp>
      <p:sp>
        <p:nvSpPr>
          <p:cNvPr id="27" name="text-133">
            <a:extLst xmlns:a="http://schemas.openxmlformats.org/drawingml/2006/main">
              <a:ext uri="{FF2B5EF4-FFF2-40B4-BE49-F238E27FC236}">
                <a16:creationId xmlns:a16="http://schemas.microsoft.com/office/drawing/2014/main" id="{BC142E07-0530-44DC-B6EE-671ACB38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210175"/>
            <a:ext cx="8496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321"/>
                </a:solidFill>
                <a:latin typeface="Microsoft YaHei"/>
                <a:ea typeface="Microsoft YaHei"/>
                <a:cs typeface="Microsoft YaHei"/>
              </a:rPr>
              <a:t>测试 / 基准 + 依赖与阻塞</a:t>
            </a:r>
          </a:p>
        </p:txBody>
      </p:sp>
      <p:sp>
        <p:nvSpPr>
          <p:cNvPr id="28" name="text-134">
            <a:extLst xmlns:a="http://schemas.openxmlformats.org/drawingml/2006/main">
              <a:ext uri="{FF2B5EF4-FFF2-40B4-BE49-F238E27FC236}">
                <a16:creationId xmlns:a16="http://schemas.microsoft.com/office/drawing/2014/main" id="{EF24920C-971F-4E4F-9F05-8689B433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29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6B66"/>
                </a:solidFill>
                <a:latin typeface="Microsoft YaHei"/>
                <a:ea typeface="Microsoft YaHei"/>
                <a:cs typeface="Microsoft YaHei"/>
              </a:rPr>
              <a:t>后续方向：Board 协作、桌面完整打包、恢复深化与 Diagram / Fab 扩展</a:t>
            </a:r>
          </a:p>
        </p:txBody>
      </p:sp>
    </p:spTree>
    <p:extLst>
      <p:ext uri="{BB962C8B-B14F-4D97-AF65-F5344CB8AC3E}">
        <p14:creationId xmlns:p14="http://schemas.microsoft.com/office/powerpoint/2010/main" val="1682735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2026-09-13T08:05:31.7810000Z</dcterms:created>
  <dcterms:modified xsi:type="dcterms:W3CDTF">2026-09-13T08:05:31.7810000Z</dcterms:modified>
</coreProperties>
</file>